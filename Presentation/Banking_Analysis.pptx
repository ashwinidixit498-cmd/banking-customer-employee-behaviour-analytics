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DM Sans" pitchFamily="2" charset="0"/>
      <p:regular r:id="rId17"/>
    </p:embeddedFont>
    <p:embeddedFont>
      <p:font typeface="DM Sans Bold" panose="020B0604020202020204" charset="0"/>
      <p:regular r:id="rId18"/>
    </p:embeddedFont>
    <p:embeddedFont>
      <p:font typeface="League Spartan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wini Dixit" userId="4b02c7585cd02366" providerId="LiveId" clId="{1EAAE198-C377-4F4A-AE44-4A40ED4A962B}"/>
    <pc:docChg chg="undo custSel modSld">
      <pc:chgData name="Ashwini Dixit" userId="4b02c7585cd02366" providerId="LiveId" clId="{1EAAE198-C377-4F4A-AE44-4A40ED4A962B}" dt="2026-09-09T09:30:54.440" v="5" actId="14100"/>
      <pc:docMkLst>
        <pc:docMk/>
      </pc:docMkLst>
      <pc:sldChg chg="addSp delSp modSp mod">
        <pc:chgData name="Ashwini Dixit" userId="4b02c7585cd02366" providerId="LiveId" clId="{1EAAE198-C377-4F4A-AE44-4A40ED4A962B}" dt="2026-09-09T09:30:54.440" v="5" actId="14100"/>
        <pc:sldMkLst>
          <pc:docMk/>
          <pc:sldMk cId="0" sldId="257"/>
        </pc:sldMkLst>
        <pc:spChg chg="add del">
          <ac:chgData name="Ashwini Dixit" userId="4b02c7585cd02366" providerId="LiveId" clId="{1EAAE198-C377-4F4A-AE44-4A40ED4A962B}" dt="2026-09-09T09:27:57.741" v="1" actId="22"/>
          <ac:spMkLst>
            <pc:docMk/>
            <pc:sldMk cId="0" sldId="257"/>
            <ac:spMk id="4" creationId="{8CD27172-CF66-8A8C-6DD9-FF8601C60BD0}"/>
          </ac:spMkLst>
        </pc:spChg>
        <pc:picChg chg="add mod">
          <ac:chgData name="Ashwini Dixit" userId="4b02c7585cd02366" providerId="LiveId" clId="{1EAAE198-C377-4F4A-AE44-4A40ED4A962B}" dt="2026-09-09T09:30:54.440" v="5" actId="14100"/>
          <ac:picMkLst>
            <pc:docMk/>
            <pc:sldMk cId="0" sldId="257"/>
            <ac:picMk id="6" creationId="{7EE16C8D-6D89-0FB9-2FC5-B60FF165FD4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2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82F2A">
                <a:alpha val="53725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4763750" y="714375"/>
            <a:ext cx="2476500" cy="151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475"/>
              </a:lnSpc>
            </a:pPr>
            <a:r>
              <a:rPr lang="en-US" sz="11250" b="1">
                <a:solidFill>
                  <a:srgbClr val="B8E34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47750" y="1057275"/>
            <a:ext cx="85725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B8E34A"/>
                </a:solidFill>
                <a:latin typeface="DM Sans Bold"/>
                <a:ea typeface="DM Sans Bold"/>
                <a:cs typeface="DM Sans Bold"/>
                <a:sym typeface="DM Sans Bold"/>
              </a:rPr>
              <a:t>CAPSTONE PROJECT  •  SQL  •  POWER BI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00125" y="2486025"/>
            <a:ext cx="11525250" cy="2294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74"/>
              </a:lnSpc>
            </a:pPr>
            <a:r>
              <a:rPr lang="en-US" sz="8700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DIGITAL BANKING</a:t>
            </a:r>
          </a:p>
          <a:p>
            <a:pPr algn="l">
              <a:lnSpc>
                <a:spcPts val="8874"/>
              </a:lnSpc>
            </a:pPr>
            <a:r>
              <a:rPr lang="en-US" sz="8700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ANALYTICS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95375" y="5019675"/>
            <a:ext cx="8572500" cy="388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An End-to-End SQL &amp; Power BI Analytics Solution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95375" y="6524625"/>
            <a:ext cx="1143000" cy="47625"/>
            <a:chOff x="0" y="0"/>
            <a:chExt cx="1524000" cy="635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24000" cy="63500"/>
            </a:xfrm>
            <a:custGeom>
              <a:avLst/>
              <a:gdLst/>
              <a:ahLst/>
              <a:cxnLst/>
              <a:rect l="l" t="t" r="r" b="b"/>
              <a:pathLst>
                <a:path w="1524000" h="63500">
                  <a:moveTo>
                    <a:pt x="0" y="0"/>
                  </a:moveTo>
                  <a:lnTo>
                    <a:pt x="1524000" y="0"/>
                  </a:lnTo>
                  <a:lnTo>
                    <a:pt x="152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B8E3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524000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95375" y="6867525"/>
            <a:ext cx="104775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B8E34A"/>
                </a:solidFill>
                <a:latin typeface="DM Sans Bold"/>
                <a:ea typeface="DM Sans Bold"/>
                <a:cs typeface="DM Sans Bold"/>
                <a:sym typeface="DM Sans Bold"/>
              </a:rPr>
              <a:t>SQL   /   ETL   /   DATA ANALYSIS   /   BUSINESS INTELLIGENCE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95375" y="8086725"/>
            <a:ext cx="476250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Ashwini Dixit</a:t>
            </a:r>
          </a:p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Aspiring Data Analyst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7250" y="771525"/>
            <a:ext cx="1428750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>
                <a:solidFill>
                  <a:srgbClr val="082F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02  |  PROJECT OVERVIEW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E16C8D-6D89-0FB9-2FC5-B60FF165FD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" y="1714500"/>
            <a:ext cx="17133855" cy="7543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811500" y="495300"/>
            <a:ext cx="1619250" cy="76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814"/>
              </a:lnSpc>
            </a:pPr>
            <a:r>
              <a:rPr lang="en-US" sz="5700" b="1">
                <a:solidFill>
                  <a:srgbClr val="B8E34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03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57250" y="533400"/>
            <a:ext cx="904875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145C4D"/>
                </a:solidFill>
                <a:latin typeface="DM Sans Bold"/>
                <a:ea typeface="DM Sans Bold"/>
                <a:cs typeface="DM Sans Bold"/>
                <a:sym typeface="DM Sans Bold"/>
              </a:rPr>
              <a:t>BUSINESS PROBLEM &amp; OBJECTIVES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57250" y="1057275"/>
            <a:ext cx="14287500" cy="561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7"/>
              </a:lnSpc>
            </a:pPr>
            <a:r>
              <a:rPr lang="en-US" sz="4125" b="1">
                <a:solidFill>
                  <a:srgbClr val="082F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business questions does the analysis answer?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18288000" cy="95250"/>
            <a:chOff x="0" y="0"/>
            <a:chExt cx="24384000" cy="127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27000"/>
            </a:xfrm>
            <a:custGeom>
              <a:avLst/>
              <a:gdLst/>
              <a:ahLst/>
              <a:cxnLst/>
              <a:rect l="l" t="t" r="r" b="b"/>
              <a:pathLst>
                <a:path w="24384000" h="127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B8E3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62000" y="2809875"/>
            <a:ext cx="3143250" cy="2952750"/>
            <a:chOff x="0" y="0"/>
            <a:chExt cx="4191000" cy="39370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4191000" cy="3937000"/>
              <a:chOff x="0" y="0"/>
              <a:chExt cx="4191000" cy="3937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191000" cy="3937000"/>
              </a:xfrm>
              <a:custGeom>
                <a:avLst/>
                <a:gdLst/>
                <a:ahLst/>
                <a:cxnLst/>
                <a:rect l="l" t="t" r="r" b="b"/>
                <a:pathLst>
                  <a:path w="4191000" h="3937000">
                    <a:moveTo>
                      <a:pt x="53879" y="0"/>
                    </a:moveTo>
                    <a:lnTo>
                      <a:pt x="4137121" y="0"/>
                    </a:lnTo>
                    <a:cubicBezTo>
                      <a:pt x="4151411" y="0"/>
                      <a:pt x="4165115" y="5676"/>
                      <a:pt x="4175219" y="15781"/>
                    </a:cubicBezTo>
                    <a:cubicBezTo>
                      <a:pt x="4185324" y="25885"/>
                      <a:pt x="4191000" y="39589"/>
                      <a:pt x="4191000" y="53879"/>
                    </a:cubicBezTo>
                    <a:lnTo>
                      <a:pt x="4191000" y="3883121"/>
                    </a:lnTo>
                    <a:cubicBezTo>
                      <a:pt x="4191000" y="3897411"/>
                      <a:pt x="4185324" y="3911115"/>
                      <a:pt x="4175219" y="3921219"/>
                    </a:cubicBezTo>
                    <a:cubicBezTo>
                      <a:pt x="4165115" y="3931324"/>
                      <a:pt x="4151411" y="3937000"/>
                      <a:pt x="4137121" y="3937000"/>
                    </a:cubicBezTo>
                    <a:lnTo>
                      <a:pt x="53879" y="3937000"/>
                    </a:lnTo>
                    <a:cubicBezTo>
                      <a:pt x="39589" y="3937000"/>
                      <a:pt x="25885" y="3931324"/>
                      <a:pt x="15781" y="3921219"/>
                    </a:cubicBezTo>
                    <a:cubicBezTo>
                      <a:pt x="5676" y="3911115"/>
                      <a:pt x="0" y="3897411"/>
                      <a:pt x="0" y="3883121"/>
                    </a:cubicBezTo>
                    <a:lnTo>
                      <a:pt x="0" y="53879"/>
                    </a:lnTo>
                    <a:cubicBezTo>
                      <a:pt x="0" y="39589"/>
                      <a:pt x="5676" y="25885"/>
                      <a:pt x="15781" y="15781"/>
                    </a:cubicBezTo>
                    <a:cubicBezTo>
                      <a:pt x="25885" y="5676"/>
                      <a:pt x="39589" y="0"/>
                      <a:pt x="5387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BDD0C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191000" cy="397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55600" y="415925"/>
              <a:ext cx="3429000" cy="2774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275" b="1" spc="152">
                  <a:solidFill>
                    <a:srgbClr val="145C4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CUSTOMER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55600" y="1435100"/>
              <a:ext cx="3479800" cy="7094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65"/>
                </a:lnSpc>
              </a:pPr>
              <a:r>
                <a:rPr lang="en-US" sz="2025" b="1">
                  <a:solidFill>
                    <a:srgbClr val="082F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How are customers</a:t>
              </a:r>
            </a:p>
            <a:p>
              <a:pPr algn="l">
                <a:lnSpc>
                  <a:spcPts val="2065"/>
                </a:lnSpc>
              </a:pPr>
              <a:r>
                <a:rPr lang="en-US" sz="2025" b="1">
                  <a:solidFill>
                    <a:srgbClr val="082F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segmented?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229100" y="2809875"/>
            <a:ext cx="3143250" cy="2952750"/>
            <a:chOff x="0" y="0"/>
            <a:chExt cx="4191000" cy="3937000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4191000" cy="3937000"/>
              <a:chOff x="0" y="0"/>
              <a:chExt cx="4191000" cy="3937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4191000" cy="3937000"/>
              </a:xfrm>
              <a:custGeom>
                <a:avLst/>
                <a:gdLst/>
                <a:ahLst/>
                <a:cxnLst/>
                <a:rect l="l" t="t" r="r" b="b"/>
                <a:pathLst>
                  <a:path w="4191000" h="3937000">
                    <a:moveTo>
                      <a:pt x="53879" y="0"/>
                    </a:moveTo>
                    <a:lnTo>
                      <a:pt x="4137121" y="0"/>
                    </a:lnTo>
                    <a:cubicBezTo>
                      <a:pt x="4151411" y="0"/>
                      <a:pt x="4165115" y="5676"/>
                      <a:pt x="4175219" y="15781"/>
                    </a:cubicBezTo>
                    <a:cubicBezTo>
                      <a:pt x="4185324" y="25885"/>
                      <a:pt x="4191000" y="39589"/>
                      <a:pt x="4191000" y="53879"/>
                    </a:cubicBezTo>
                    <a:lnTo>
                      <a:pt x="4191000" y="3883121"/>
                    </a:lnTo>
                    <a:cubicBezTo>
                      <a:pt x="4191000" y="3897411"/>
                      <a:pt x="4185324" y="3911115"/>
                      <a:pt x="4175219" y="3921219"/>
                    </a:cubicBezTo>
                    <a:cubicBezTo>
                      <a:pt x="4165115" y="3931324"/>
                      <a:pt x="4151411" y="3937000"/>
                      <a:pt x="4137121" y="3937000"/>
                    </a:cubicBezTo>
                    <a:lnTo>
                      <a:pt x="53879" y="3937000"/>
                    </a:lnTo>
                    <a:cubicBezTo>
                      <a:pt x="39589" y="3937000"/>
                      <a:pt x="25885" y="3931324"/>
                      <a:pt x="15781" y="3921219"/>
                    </a:cubicBezTo>
                    <a:cubicBezTo>
                      <a:pt x="5676" y="3911115"/>
                      <a:pt x="0" y="3897411"/>
                      <a:pt x="0" y="3883121"/>
                    </a:cubicBezTo>
                    <a:lnTo>
                      <a:pt x="0" y="53879"/>
                    </a:lnTo>
                    <a:cubicBezTo>
                      <a:pt x="0" y="39589"/>
                      <a:pt x="5676" y="25885"/>
                      <a:pt x="15781" y="15781"/>
                    </a:cubicBezTo>
                    <a:cubicBezTo>
                      <a:pt x="25885" y="5676"/>
                      <a:pt x="39589" y="0"/>
                      <a:pt x="5387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BDD0C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4191000" cy="397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355600" y="415925"/>
              <a:ext cx="3429000" cy="2774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275" b="1" spc="152">
                  <a:solidFill>
                    <a:srgbClr val="145C4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PRODUCT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55600" y="1425575"/>
              <a:ext cx="3479800" cy="5528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06"/>
                </a:lnSpc>
              </a:pPr>
              <a:r>
                <a:rPr lang="en-US" sz="1575" b="1">
                  <a:solidFill>
                    <a:srgbClr val="082F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Which banking products</a:t>
              </a:r>
            </a:p>
            <a:p>
              <a:pPr algn="l">
                <a:lnSpc>
                  <a:spcPts val="1606"/>
                </a:lnSpc>
              </a:pPr>
              <a:r>
                <a:rPr lang="en-US" sz="1575" b="1">
                  <a:solidFill>
                    <a:srgbClr val="082F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are most adopted?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696200" y="2809875"/>
            <a:ext cx="3143250" cy="2952750"/>
            <a:chOff x="0" y="0"/>
            <a:chExt cx="4191000" cy="3937000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4191000" cy="3937000"/>
              <a:chOff x="0" y="0"/>
              <a:chExt cx="4191000" cy="3937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4191000" cy="3937000"/>
              </a:xfrm>
              <a:custGeom>
                <a:avLst/>
                <a:gdLst/>
                <a:ahLst/>
                <a:cxnLst/>
                <a:rect l="l" t="t" r="r" b="b"/>
                <a:pathLst>
                  <a:path w="4191000" h="3937000">
                    <a:moveTo>
                      <a:pt x="53879" y="0"/>
                    </a:moveTo>
                    <a:lnTo>
                      <a:pt x="4137121" y="0"/>
                    </a:lnTo>
                    <a:cubicBezTo>
                      <a:pt x="4151411" y="0"/>
                      <a:pt x="4165115" y="5676"/>
                      <a:pt x="4175219" y="15781"/>
                    </a:cubicBezTo>
                    <a:cubicBezTo>
                      <a:pt x="4185324" y="25885"/>
                      <a:pt x="4191000" y="39589"/>
                      <a:pt x="4191000" y="53879"/>
                    </a:cubicBezTo>
                    <a:lnTo>
                      <a:pt x="4191000" y="3883121"/>
                    </a:lnTo>
                    <a:cubicBezTo>
                      <a:pt x="4191000" y="3897411"/>
                      <a:pt x="4185324" y="3911115"/>
                      <a:pt x="4175219" y="3921219"/>
                    </a:cubicBezTo>
                    <a:cubicBezTo>
                      <a:pt x="4165115" y="3931324"/>
                      <a:pt x="4151411" y="3937000"/>
                      <a:pt x="4137121" y="3937000"/>
                    </a:cubicBezTo>
                    <a:lnTo>
                      <a:pt x="53879" y="3937000"/>
                    </a:lnTo>
                    <a:cubicBezTo>
                      <a:pt x="39589" y="3937000"/>
                      <a:pt x="25885" y="3931324"/>
                      <a:pt x="15781" y="3921219"/>
                    </a:cubicBezTo>
                    <a:cubicBezTo>
                      <a:pt x="5676" y="3911115"/>
                      <a:pt x="0" y="3897411"/>
                      <a:pt x="0" y="3883121"/>
                    </a:cubicBezTo>
                    <a:lnTo>
                      <a:pt x="0" y="53879"/>
                    </a:lnTo>
                    <a:cubicBezTo>
                      <a:pt x="0" y="39589"/>
                      <a:pt x="5676" y="25885"/>
                      <a:pt x="15781" y="15781"/>
                    </a:cubicBezTo>
                    <a:cubicBezTo>
                      <a:pt x="25885" y="5676"/>
                      <a:pt x="39589" y="0"/>
                      <a:pt x="5387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BDD0C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4191000" cy="397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355600" y="415925"/>
              <a:ext cx="3429000" cy="2774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275" b="1" spc="152">
                  <a:solidFill>
                    <a:srgbClr val="145C4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VALUE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5600" y="1435100"/>
              <a:ext cx="3479800" cy="8478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48"/>
                </a:lnSpc>
              </a:pPr>
              <a:r>
                <a:rPr lang="en-US" sz="2400" b="1">
                  <a:solidFill>
                    <a:srgbClr val="082F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What drives</a:t>
              </a:r>
            </a:p>
            <a:p>
              <a:pPr algn="l">
                <a:lnSpc>
                  <a:spcPts val="2448"/>
                </a:lnSpc>
              </a:pPr>
              <a:r>
                <a:rPr lang="en-US" sz="2400" b="1">
                  <a:solidFill>
                    <a:srgbClr val="082F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product value?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163300" y="2809875"/>
            <a:ext cx="3143250" cy="2952750"/>
            <a:chOff x="0" y="0"/>
            <a:chExt cx="4191000" cy="3937000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4191000" cy="3937000"/>
              <a:chOff x="0" y="0"/>
              <a:chExt cx="4191000" cy="39370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4191000" cy="3937000"/>
              </a:xfrm>
              <a:custGeom>
                <a:avLst/>
                <a:gdLst/>
                <a:ahLst/>
                <a:cxnLst/>
                <a:rect l="l" t="t" r="r" b="b"/>
                <a:pathLst>
                  <a:path w="4191000" h="3937000">
                    <a:moveTo>
                      <a:pt x="53879" y="0"/>
                    </a:moveTo>
                    <a:lnTo>
                      <a:pt x="4137121" y="0"/>
                    </a:lnTo>
                    <a:cubicBezTo>
                      <a:pt x="4151411" y="0"/>
                      <a:pt x="4165115" y="5676"/>
                      <a:pt x="4175219" y="15781"/>
                    </a:cubicBezTo>
                    <a:cubicBezTo>
                      <a:pt x="4185324" y="25885"/>
                      <a:pt x="4191000" y="39589"/>
                      <a:pt x="4191000" y="53879"/>
                    </a:cubicBezTo>
                    <a:lnTo>
                      <a:pt x="4191000" y="3883121"/>
                    </a:lnTo>
                    <a:cubicBezTo>
                      <a:pt x="4191000" y="3897411"/>
                      <a:pt x="4185324" y="3911115"/>
                      <a:pt x="4175219" y="3921219"/>
                    </a:cubicBezTo>
                    <a:cubicBezTo>
                      <a:pt x="4165115" y="3931324"/>
                      <a:pt x="4151411" y="3937000"/>
                      <a:pt x="4137121" y="3937000"/>
                    </a:cubicBezTo>
                    <a:lnTo>
                      <a:pt x="53879" y="3937000"/>
                    </a:lnTo>
                    <a:cubicBezTo>
                      <a:pt x="39589" y="3937000"/>
                      <a:pt x="25885" y="3931324"/>
                      <a:pt x="15781" y="3921219"/>
                    </a:cubicBezTo>
                    <a:cubicBezTo>
                      <a:pt x="5676" y="3911115"/>
                      <a:pt x="0" y="3897411"/>
                      <a:pt x="0" y="3883121"/>
                    </a:cubicBezTo>
                    <a:lnTo>
                      <a:pt x="0" y="53879"/>
                    </a:lnTo>
                    <a:cubicBezTo>
                      <a:pt x="0" y="39589"/>
                      <a:pt x="5676" y="25885"/>
                      <a:pt x="15781" y="15781"/>
                    </a:cubicBezTo>
                    <a:cubicBezTo>
                      <a:pt x="25885" y="5676"/>
                      <a:pt x="39589" y="0"/>
                      <a:pt x="5387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BDD0C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4191000" cy="397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355600" y="415925"/>
              <a:ext cx="3429000" cy="2774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275" b="1" spc="152">
                  <a:solidFill>
                    <a:srgbClr val="145C4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EMPLOYEE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55600" y="1435100"/>
              <a:ext cx="3479800" cy="6817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89"/>
                </a:lnSpc>
              </a:pPr>
              <a:r>
                <a:rPr lang="en-US" sz="1950" b="1">
                  <a:solidFill>
                    <a:srgbClr val="082F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How are employees</a:t>
              </a:r>
            </a:p>
            <a:p>
              <a:pPr algn="l">
                <a:lnSpc>
                  <a:spcPts val="1989"/>
                </a:lnSpc>
              </a:pPr>
              <a:r>
                <a:rPr lang="en-US" sz="1950" b="1">
                  <a:solidFill>
                    <a:srgbClr val="082F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performing?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4630400" y="2809875"/>
            <a:ext cx="3143250" cy="2952750"/>
            <a:chOff x="0" y="0"/>
            <a:chExt cx="4191000" cy="3937000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4191000" cy="3937000"/>
              <a:chOff x="0" y="0"/>
              <a:chExt cx="4191000" cy="39370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4191000" cy="3937000"/>
              </a:xfrm>
              <a:custGeom>
                <a:avLst/>
                <a:gdLst/>
                <a:ahLst/>
                <a:cxnLst/>
                <a:rect l="l" t="t" r="r" b="b"/>
                <a:pathLst>
                  <a:path w="4191000" h="3937000">
                    <a:moveTo>
                      <a:pt x="53879" y="0"/>
                    </a:moveTo>
                    <a:lnTo>
                      <a:pt x="4137121" y="0"/>
                    </a:lnTo>
                    <a:cubicBezTo>
                      <a:pt x="4151411" y="0"/>
                      <a:pt x="4165115" y="5676"/>
                      <a:pt x="4175219" y="15781"/>
                    </a:cubicBezTo>
                    <a:cubicBezTo>
                      <a:pt x="4185324" y="25885"/>
                      <a:pt x="4191000" y="39589"/>
                      <a:pt x="4191000" y="53879"/>
                    </a:cubicBezTo>
                    <a:lnTo>
                      <a:pt x="4191000" y="3883121"/>
                    </a:lnTo>
                    <a:cubicBezTo>
                      <a:pt x="4191000" y="3897411"/>
                      <a:pt x="4185324" y="3911115"/>
                      <a:pt x="4175219" y="3921219"/>
                    </a:cubicBezTo>
                    <a:cubicBezTo>
                      <a:pt x="4165115" y="3931324"/>
                      <a:pt x="4151411" y="3937000"/>
                      <a:pt x="4137121" y="3937000"/>
                    </a:cubicBezTo>
                    <a:lnTo>
                      <a:pt x="53879" y="3937000"/>
                    </a:lnTo>
                    <a:cubicBezTo>
                      <a:pt x="39589" y="3937000"/>
                      <a:pt x="25885" y="3931324"/>
                      <a:pt x="15781" y="3921219"/>
                    </a:cubicBezTo>
                    <a:cubicBezTo>
                      <a:pt x="5676" y="3911115"/>
                      <a:pt x="0" y="3897411"/>
                      <a:pt x="0" y="3883121"/>
                    </a:cubicBezTo>
                    <a:lnTo>
                      <a:pt x="0" y="53879"/>
                    </a:lnTo>
                    <a:cubicBezTo>
                      <a:pt x="0" y="39589"/>
                      <a:pt x="5676" y="25885"/>
                      <a:pt x="15781" y="15781"/>
                    </a:cubicBezTo>
                    <a:cubicBezTo>
                      <a:pt x="25885" y="5676"/>
                      <a:pt x="39589" y="0"/>
                      <a:pt x="5387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BDD0C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38100"/>
                <a:ext cx="4191000" cy="397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355600" y="415925"/>
              <a:ext cx="3429000" cy="2774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275" b="1" spc="152">
                  <a:solidFill>
                    <a:srgbClr val="145C4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BRANCH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55600" y="1425575"/>
              <a:ext cx="3479800" cy="7466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2"/>
                </a:lnSpc>
              </a:pPr>
              <a:r>
                <a:rPr lang="en-US" sz="2100" b="1">
                  <a:solidFill>
                    <a:srgbClr val="082F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Which branches</a:t>
              </a:r>
            </a:p>
            <a:p>
              <a:pPr algn="l">
                <a:lnSpc>
                  <a:spcPts val="2142"/>
                </a:lnSpc>
              </a:pPr>
              <a:r>
                <a:rPr lang="en-US" sz="2100" b="1">
                  <a:solidFill>
                    <a:srgbClr val="082F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require attention?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143000" y="6858000"/>
            <a:ext cx="16002000" cy="1190625"/>
            <a:chOff x="0" y="0"/>
            <a:chExt cx="21336000" cy="15875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1336000" cy="1587500"/>
            </a:xfrm>
            <a:custGeom>
              <a:avLst/>
              <a:gdLst/>
              <a:ahLst/>
              <a:cxnLst/>
              <a:rect l="l" t="t" r="r" b="b"/>
              <a:pathLst>
                <a:path w="21336000" h="1587500">
                  <a:moveTo>
                    <a:pt x="10583" y="0"/>
                  </a:moveTo>
                  <a:lnTo>
                    <a:pt x="21325416" y="0"/>
                  </a:lnTo>
                  <a:cubicBezTo>
                    <a:pt x="21328224" y="0"/>
                    <a:pt x="21330915" y="1115"/>
                    <a:pt x="21332901" y="3100"/>
                  </a:cubicBezTo>
                  <a:cubicBezTo>
                    <a:pt x="21334885" y="5085"/>
                    <a:pt x="21336000" y="7776"/>
                    <a:pt x="21336000" y="10583"/>
                  </a:cubicBezTo>
                  <a:lnTo>
                    <a:pt x="21336000" y="1576917"/>
                  </a:lnTo>
                  <a:cubicBezTo>
                    <a:pt x="21336000" y="1579724"/>
                    <a:pt x="21334885" y="1582415"/>
                    <a:pt x="21332901" y="1584400"/>
                  </a:cubicBezTo>
                  <a:cubicBezTo>
                    <a:pt x="21330915" y="1586385"/>
                    <a:pt x="21328224" y="1587500"/>
                    <a:pt x="21325416" y="1587500"/>
                  </a:cubicBezTo>
                  <a:lnTo>
                    <a:pt x="10583" y="1587500"/>
                  </a:lnTo>
                  <a:cubicBezTo>
                    <a:pt x="7776" y="1587500"/>
                    <a:pt x="5085" y="1586385"/>
                    <a:pt x="3100" y="1584400"/>
                  </a:cubicBezTo>
                  <a:cubicBezTo>
                    <a:pt x="1115" y="1582415"/>
                    <a:pt x="0" y="1579724"/>
                    <a:pt x="0" y="1576917"/>
                  </a:cubicBezTo>
                  <a:lnTo>
                    <a:pt x="0" y="10583"/>
                  </a:lnTo>
                  <a:cubicBezTo>
                    <a:pt x="0" y="7776"/>
                    <a:pt x="1115" y="5085"/>
                    <a:pt x="3100" y="3100"/>
                  </a:cubicBezTo>
                  <a:cubicBezTo>
                    <a:pt x="5085" y="1115"/>
                    <a:pt x="7776" y="0"/>
                    <a:pt x="10583" y="0"/>
                  </a:cubicBezTo>
                  <a:close/>
                </a:path>
              </a:pathLst>
            </a:custGeom>
            <a:solidFill>
              <a:srgbClr val="082F2A"/>
            </a:solidFill>
            <a:ln w="19050" cap="sq">
              <a:solidFill>
                <a:srgbClr val="082F2A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21336000" cy="1625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714500" y="7239000"/>
            <a:ext cx="14859000" cy="345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7"/>
              </a:lnSpc>
            </a:pPr>
            <a:r>
              <a:rPr lang="en-US" sz="2625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OBJECTIVE  /  Transform raw banking data into actionable business insights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57250" y="9734550"/>
            <a:ext cx="8572500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 spc="144">
                <a:solidFill>
                  <a:srgbClr val="145C4D"/>
                </a:solidFill>
                <a:latin typeface="DM Sans Bold"/>
                <a:ea typeface="DM Sans Bold"/>
                <a:cs typeface="DM Sans Bold"/>
                <a:sym typeface="DM Sans Bold"/>
              </a:rPr>
              <a:t>DIGITAL BANKING ANALYTICS  /  BUSINESS QUESTIONS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811500" y="495300"/>
            <a:ext cx="1619250" cy="76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814"/>
              </a:lnSpc>
            </a:pPr>
            <a:r>
              <a:rPr lang="en-US" sz="5700" b="1">
                <a:solidFill>
                  <a:srgbClr val="B8E34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04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57250" y="533400"/>
            <a:ext cx="904875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145C4D"/>
                </a:solidFill>
                <a:latin typeface="DM Sans Bold"/>
                <a:ea typeface="DM Sans Bold"/>
                <a:cs typeface="DM Sans Bold"/>
                <a:sym typeface="DM Sans Bold"/>
              </a:rPr>
              <a:t>DATASET &amp; DATA ARCHITECTURE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57250" y="1057275"/>
            <a:ext cx="14287500" cy="561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7"/>
              </a:lnSpc>
            </a:pPr>
            <a:r>
              <a:rPr lang="en-US" sz="4125" b="1">
                <a:solidFill>
                  <a:srgbClr val="082F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Six tables. One relational view of the bank.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18288000" cy="95250"/>
            <a:chOff x="0" y="0"/>
            <a:chExt cx="24384000" cy="127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27000"/>
            </a:xfrm>
            <a:custGeom>
              <a:avLst/>
              <a:gdLst/>
              <a:ahLst/>
              <a:cxnLst/>
              <a:rect l="l" t="t" r="r" b="b"/>
              <a:pathLst>
                <a:path w="24384000" h="127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B8E3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47750" y="2857500"/>
            <a:ext cx="2571750" cy="1428750"/>
            <a:chOff x="0" y="0"/>
            <a:chExt cx="3429000" cy="19050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3429000" cy="1905000"/>
              <a:chOff x="0" y="0"/>
              <a:chExt cx="3429000" cy="1905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3429000" cy="1905000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1905000">
                    <a:moveTo>
                      <a:pt x="65852" y="0"/>
                    </a:moveTo>
                    <a:lnTo>
                      <a:pt x="3363148" y="0"/>
                    </a:lnTo>
                    <a:cubicBezTo>
                      <a:pt x="3399517" y="0"/>
                      <a:pt x="3429000" y="29483"/>
                      <a:pt x="3429000" y="65852"/>
                    </a:cubicBezTo>
                    <a:lnTo>
                      <a:pt x="3429000" y="1839148"/>
                    </a:lnTo>
                    <a:cubicBezTo>
                      <a:pt x="3429000" y="1875517"/>
                      <a:pt x="3399517" y="1905000"/>
                      <a:pt x="3363148" y="1905000"/>
                    </a:cubicBezTo>
                    <a:lnTo>
                      <a:pt x="65852" y="1905000"/>
                    </a:lnTo>
                    <a:cubicBezTo>
                      <a:pt x="29483" y="1905000"/>
                      <a:pt x="0" y="1875517"/>
                      <a:pt x="0" y="1839148"/>
                    </a:cubicBezTo>
                    <a:lnTo>
                      <a:pt x="0" y="65852"/>
                    </a:lnTo>
                    <a:cubicBezTo>
                      <a:pt x="0" y="29483"/>
                      <a:pt x="29483" y="0"/>
                      <a:pt x="658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145C4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3429000" cy="194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254000" y="346075"/>
              <a:ext cx="2921000" cy="346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875" b="1">
                  <a:solidFill>
                    <a:srgbClr val="082F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branches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54000" y="1098550"/>
              <a:ext cx="2921000" cy="3009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 b="1" spc="171">
                  <a:solidFill>
                    <a:srgbClr val="145C4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50 records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715000" y="2619375"/>
            <a:ext cx="2571750" cy="1428750"/>
            <a:chOff x="0" y="0"/>
            <a:chExt cx="3429000" cy="1905000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3429000" cy="1905000"/>
              <a:chOff x="0" y="0"/>
              <a:chExt cx="3429000" cy="1905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3429000" cy="1905000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1905000">
                    <a:moveTo>
                      <a:pt x="65852" y="0"/>
                    </a:moveTo>
                    <a:lnTo>
                      <a:pt x="3363148" y="0"/>
                    </a:lnTo>
                    <a:cubicBezTo>
                      <a:pt x="3399517" y="0"/>
                      <a:pt x="3429000" y="29483"/>
                      <a:pt x="3429000" y="65852"/>
                    </a:cubicBezTo>
                    <a:lnTo>
                      <a:pt x="3429000" y="1839148"/>
                    </a:lnTo>
                    <a:cubicBezTo>
                      <a:pt x="3429000" y="1875517"/>
                      <a:pt x="3399517" y="1905000"/>
                      <a:pt x="3363148" y="1905000"/>
                    </a:cubicBezTo>
                    <a:lnTo>
                      <a:pt x="65852" y="1905000"/>
                    </a:lnTo>
                    <a:cubicBezTo>
                      <a:pt x="29483" y="1905000"/>
                      <a:pt x="0" y="1875517"/>
                      <a:pt x="0" y="1839148"/>
                    </a:cubicBezTo>
                    <a:lnTo>
                      <a:pt x="0" y="65852"/>
                    </a:lnTo>
                    <a:cubicBezTo>
                      <a:pt x="0" y="29483"/>
                      <a:pt x="29483" y="0"/>
                      <a:pt x="658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145C4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3429000" cy="194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254000" y="346075"/>
              <a:ext cx="2921000" cy="346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875" b="1">
                  <a:solidFill>
                    <a:srgbClr val="082F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employees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54000" y="1098550"/>
              <a:ext cx="2921000" cy="3009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 b="1" spc="171">
                  <a:solidFill>
                    <a:srgbClr val="145C4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500 records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715000" y="5286375"/>
            <a:ext cx="2571750" cy="1428750"/>
            <a:chOff x="0" y="0"/>
            <a:chExt cx="3429000" cy="1905000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3429000" cy="1905000"/>
              <a:chOff x="0" y="0"/>
              <a:chExt cx="3429000" cy="1905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3429000" cy="1905000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1905000">
                    <a:moveTo>
                      <a:pt x="65852" y="0"/>
                    </a:moveTo>
                    <a:lnTo>
                      <a:pt x="3363148" y="0"/>
                    </a:lnTo>
                    <a:cubicBezTo>
                      <a:pt x="3399517" y="0"/>
                      <a:pt x="3429000" y="29483"/>
                      <a:pt x="3429000" y="65852"/>
                    </a:cubicBezTo>
                    <a:lnTo>
                      <a:pt x="3429000" y="1839148"/>
                    </a:lnTo>
                    <a:cubicBezTo>
                      <a:pt x="3429000" y="1875517"/>
                      <a:pt x="3399517" y="1905000"/>
                      <a:pt x="3363148" y="1905000"/>
                    </a:cubicBezTo>
                    <a:lnTo>
                      <a:pt x="65852" y="1905000"/>
                    </a:lnTo>
                    <a:cubicBezTo>
                      <a:pt x="29483" y="1905000"/>
                      <a:pt x="0" y="1875517"/>
                      <a:pt x="0" y="1839148"/>
                    </a:cubicBezTo>
                    <a:lnTo>
                      <a:pt x="0" y="65852"/>
                    </a:lnTo>
                    <a:cubicBezTo>
                      <a:pt x="0" y="29483"/>
                      <a:pt x="29483" y="0"/>
                      <a:pt x="658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145C4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3429000" cy="194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254000" y="346075"/>
              <a:ext cx="2921000" cy="346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875" b="1">
                  <a:solidFill>
                    <a:srgbClr val="082F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customers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54000" y="1098550"/>
              <a:ext cx="2921000" cy="3009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 b="1" spc="171">
                  <a:solidFill>
                    <a:srgbClr val="145C4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10,000 records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668000" y="2428875"/>
            <a:ext cx="2571750" cy="1428750"/>
            <a:chOff x="0" y="0"/>
            <a:chExt cx="3429000" cy="1905000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3429000" cy="1905000"/>
              <a:chOff x="0" y="0"/>
              <a:chExt cx="3429000" cy="19050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3429000" cy="1905000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1905000">
                    <a:moveTo>
                      <a:pt x="65852" y="0"/>
                    </a:moveTo>
                    <a:lnTo>
                      <a:pt x="3363148" y="0"/>
                    </a:lnTo>
                    <a:cubicBezTo>
                      <a:pt x="3399517" y="0"/>
                      <a:pt x="3429000" y="29483"/>
                      <a:pt x="3429000" y="65852"/>
                    </a:cubicBezTo>
                    <a:lnTo>
                      <a:pt x="3429000" y="1839148"/>
                    </a:lnTo>
                    <a:cubicBezTo>
                      <a:pt x="3429000" y="1875517"/>
                      <a:pt x="3399517" y="1905000"/>
                      <a:pt x="3363148" y="1905000"/>
                    </a:cubicBezTo>
                    <a:lnTo>
                      <a:pt x="65852" y="1905000"/>
                    </a:lnTo>
                    <a:cubicBezTo>
                      <a:pt x="29483" y="1905000"/>
                      <a:pt x="0" y="1875517"/>
                      <a:pt x="0" y="1839148"/>
                    </a:cubicBezTo>
                    <a:lnTo>
                      <a:pt x="0" y="65852"/>
                    </a:lnTo>
                    <a:cubicBezTo>
                      <a:pt x="0" y="29483"/>
                      <a:pt x="29483" y="0"/>
                      <a:pt x="658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145C4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3429000" cy="194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254000" y="346075"/>
              <a:ext cx="2921000" cy="346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875" b="1">
                  <a:solidFill>
                    <a:srgbClr val="082F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customer_opted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54000" y="1098550"/>
              <a:ext cx="2921000" cy="3009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 b="1" spc="171">
                  <a:solidFill>
                    <a:srgbClr val="145C4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18,450 records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668000" y="5286375"/>
            <a:ext cx="3143250" cy="1428750"/>
            <a:chOff x="0" y="0"/>
            <a:chExt cx="4191000" cy="1905000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4191000" cy="1905000"/>
              <a:chOff x="0" y="0"/>
              <a:chExt cx="4191000" cy="19050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4191000" cy="1905000"/>
              </a:xfrm>
              <a:custGeom>
                <a:avLst/>
                <a:gdLst/>
                <a:ahLst/>
                <a:cxnLst/>
                <a:rect l="l" t="t" r="r" b="b"/>
                <a:pathLst>
                  <a:path w="4191000" h="1905000">
                    <a:moveTo>
                      <a:pt x="53879" y="0"/>
                    </a:moveTo>
                    <a:lnTo>
                      <a:pt x="4137121" y="0"/>
                    </a:lnTo>
                    <a:cubicBezTo>
                      <a:pt x="4151411" y="0"/>
                      <a:pt x="4165115" y="5676"/>
                      <a:pt x="4175219" y="15781"/>
                    </a:cubicBezTo>
                    <a:cubicBezTo>
                      <a:pt x="4185324" y="25885"/>
                      <a:pt x="4191000" y="39589"/>
                      <a:pt x="4191000" y="53879"/>
                    </a:cubicBezTo>
                    <a:lnTo>
                      <a:pt x="4191000" y="1851121"/>
                    </a:lnTo>
                    <a:cubicBezTo>
                      <a:pt x="4191000" y="1865411"/>
                      <a:pt x="4185324" y="1879115"/>
                      <a:pt x="4175219" y="1889219"/>
                    </a:cubicBezTo>
                    <a:cubicBezTo>
                      <a:pt x="4165115" y="1899324"/>
                      <a:pt x="4151411" y="1905000"/>
                      <a:pt x="4137121" y="1905000"/>
                    </a:cubicBezTo>
                    <a:lnTo>
                      <a:pt x="53879" y="1905000"/>
                    </a:lnTo>
                    <a:cubicBezTo>
                      <a:pt x="39589" y="1905000"/>
                      <a:pt x="25885" y="1899324"/>
                      <a:pt x="15781" y="1889219"/>
                    </a:cubicBezTo>
                    <a:cubicBezTo>
                      <a:pt x="5676" y="1879115"/>
                      <a:pt x="0" y="1865411"/>
                      <a:pt x="0" y="1851121"/>
                    </a:cubicBezTo>
                    <a:lnTo>
                      <a:pt x="0" y="53879"/>
                    </a:lnTo>
                    <a:cubicBezTo>
                      <a:pt x="0" y="39589"/>
                      <a:pt x="5676" y="25885"/>
                      <a:pt x="15781" y="15781"/>
                    </a:cubicBezTo>
                    <a:cubicBezTo>
                      <a:pt x="25885" y="5676"/>
                      <a:pt x="39589" y="0"/>
                      <a:pt x="5387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145C4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38100"/>
                <a:ext cx="4191000" cy="194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254000" y="346075"/>
              <a:ext cx="3683000" cy="346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875" b="1">
                  <a:solidFill>
                    <a:srgbClr val="082F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emp_cust_interaction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54000" y="1098550"/>
              <a:ext cx="3683000" cy="3009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 b="1" spc="171">
                  <a:solidFill>
                    <a:srgbClr val="145C4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65,000 records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4859000" y="2619375"/>
            <a:ext cx="2571750" cy="1428750"/>
            <a:chOff x="0" y="0"/>
            <a:chExt cx="3429000" cy="1905000"/>
          </a:xfrm>
        </p:grpSpPr>
        <p:grpSp>
          <p:nvGrpSpPr>
            <p:cNvPr id="39" name="Group 39"/>
            <p:cNvGrpSpPr/>
            <p:nvPr/>
          </p:nvGrpSpPr>
          <p:grpSpPr>
            <a:xfrm>
              <a:off x="0" y="0"/>
              <a:ext cx="3429000" cy="1905000"/>
              <a:chOff x="0" y="0"/>
              <a:chExt cx="3429000" cy="19050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3429000" cy="1905000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1905000">
                    <a:moveTo>
                      <a:pt x="65852" y="0"/>
                    </a:moveTo>
                    <a:lnTo>
                      <a:pt x="3363148" y="0"/>
                    </a:lnTo>
                    <a:cubicBezTo>
                      <a:pt x="3399517" y="0"/>
                      <a:pt x="3429000" y="29483"/>
                      <a:pt x="3429000" y="65852"/>
                    </a:cubicBezTo>
                    <a:lnTo>
                      <a:pt x="3429000" y="1839148"/>
                    </a:lnTo>
                    <a:cubicBezTo>
                      <a:pt x="3429000" y="1875517"/>
                      <a:pt x="3399517" y="1905000"/>
                      <a:pt x="3363148" y="1905000"/>
                    </a:cubicBezTo>
                    <a:lnTo>
                      <a:pt x="65852" y="1905000"/>
                    </a:lnTo>
                    <a:cubicBezTo>
                      <a:pt x="29483" y="1905000"/>
                      <a:pt x="0" y="1875517"/>
                      <a:pt x="0" y="1839148"/>
                    </a:cubicBezTo>
                    <a:lnTo>
                      <a:pt x="0" y="65852"/>
                    </a:lnTo>
                    <a:cubicBezTo>
                      <a:pt x="0" y="29483"/>
                      <a:pt x="29483" y="0"/>
                      <a:pt x="658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145C4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0" y="-38100"/>
                <a:ext cx="3429000" cy="194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254000" y="355600"/>
              <a:ext cx="2921000" cy="3065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59"/>
                </a:lnSpc>
              </a:pPr>
              <a:r>
                <a:rPr lang="en-US" sz="1725" b="1">
                  <a:solidFill>
                    <a:srgbClr val="082F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emp_performance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54000" y="1098550"/>
              <a:ext cx="2921000" cy="3009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 b="1" spc="171">
                  <a:solidFill>
                    <a:srgbClr val="145C4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6,000 records</a:t>
              </a:r>
            </a:p>
          </p:txBody>
        </p:sp>
      </p:grpSp>
      <p:sp>
        <p:nvSpPr>
          <p:cNvPr id="44" name="AutoShape 44"/>
          <p:cNvSpPr/>
          <p:nvPr/>
        </p:nvSpPr>
        <p:spPr>
          <a:xfrm flipV="1">
            <a:off x="3619500" y="3333750"/>
            <a:ext cx="2095500" cy="238125"/>
          </a:xfrm>
          <a:prstGeom prst="line">
            <a:avLst/>
          </a:prstGeom>
          <a:ln w="28575" cap="rnd">
            <a:solidFill>
              <a:srgbClr val="B8E3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5" name="AutoShape 45"/>
          <p:cNvSpPr/>
          <p:nvPr/>
        </p:nvSpPr>
        <p:spPr>
          <a:xfrm>
            <a:off x="3619500" y="3571875"/>
            <a:ext cx="2095500" cy="2428875"/>
          </a:xfrm>
          <a:prstGeom prst="line">
            <a:avLst/>
          </a:prstGeom>
          <a:ln w="28575" cap="rnd">
            <a:solidFill>
              <a:srgbClr val="B8E3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6" name="AutoShape 46"/>
          <p:cNvSpPr/>
          <p:nvPr/>
        </p:nvSpPr>
        <p:spPr>
          <a:xfrm flipV="1">
            <a:off x="8286750" y="3143250"/>
            <a:ext cx="2381250" cy="190500"/>
          </a:xfrm>
          <a:prstGeom prst="line">
            <a:avLst/>
          </a:prstGeom>
          <a:ln w="28575" cap="rnd">
            <a:solidFill>
              <a:srgbClr val="145C4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7" name="AutoShape 47"/>
          <p:cNvSpPr/>
          <p:nvPr/>
        </p:nvSpPr>
        <p:spPr>
          <a:xfrm>
            <a:off x="8286750" y="6000750"/>
            <a:ext cx="2381250" cy="0"/>
          </a:xfrm>
          <a:prstGeom prst="line">
            <a:avLst/>
          </a:prstGeom>
          <a:ln w="28575" cap="rnd">
            <a:solidFill>
              <a:srgbClr val="145C4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8" name="AutoShape 48"/>
          <p:cNvSpPr/>
          <p:nvPr/>
        </p:nvSpPr>
        <p:spPr>
          <a:xfrm>
            <a:off x="13239750" y="3143250"/>
            <a:ext cx="1619250" cy="190500"/>
          </a:xfrm>
          <a:prstGeom prst="line">
            <a:avLst/>
          </a:prstGeom>
          <a:ln w="28575" cap="rnd">
            <a:solidFill>
              <a:srgbClr val="145C4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9" name="AutoShape 49"/>
          <p:cNvSpPr/>
          <p:nvPr/>
        </p:nvSpPr>
        <p:spPr>
          <a:xfrm>
            <a:off x="8286750" y="6000750"/>
            <a:ext cx="2381250" cy="0"/>
          </a:xfrm>
          <a:prstGeom prst="line">
            <a:avLst/>
          </a:prstGeom>
          <a:ln w="28575" cap="rnd">
            <a:solidFill>
              <a:srgbClr val="145C4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Box 50"/>
          <p:cNvSpPr txBox="1"/>
          <p:nvPr/>
        </p:nvSpPr>
        <p:spPr>
          <a:xfrm>
            <a:off x="4000500" y="7896225"/>
            <a:ext cx="10287000" cy="255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5"/>
              </a:lnSpc>
            </a:pPr>
            <a:r>
              <a:rPr lang="en-US" sz="1650">
                <a:solidFill>
                  <a:srgbClr val="66736F"/>
                </a:solidFill>
                <a:latin typeface="DM Sans"/>
                <a:ea typeface="DM Sans"/>
                <a:cs typeface="DM Sans"/>
                <a:sym typeface="DM Sans"/>
              </a:rPr>
              <a:t>PK / FK keys highlighted in lime  •  Branch → Customers / Employees / Interactions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57250" y="9734550"/>
            <a:ext cx="8572500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 spc="144">
                <a:solidFill>
                  <a:srgbClr val="145C4D"/>
                </a:solidFill>
                <a:latin typeface="DM Sans Bold"/>
                <a:ea typeface="DM Sans Bold"/>
                <a:cs typeface="DM Sans Bold"/>
                <a:sym typeface="DM Sans Bold"/>
              </a:rPr>
              <a:t>DIGITAL BANKING ANALYTICS  /  RELATIONAL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811500" y="495300"/>
            <a:ext cx="1619250" cy="76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814"/>
              </a:lnSpc>
            </a:pPr>
            <a:r>
              <a:rPr lang="en-US" sz="5700" b="1">
                <a:solidFill>
                  <a:srgbClr val="B8E34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05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57250" y="533400"/>
            <a:ext cx="904875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145C4D"/>
                </a:solidFill>
                <a:latin typeface="DM Sans Bold"/>
                <a:ea typeface="DM Sans Bold"/>
                <a:cs typeface="DM Sans Bold"/>
                <a:sym typeface="DM Sans Bold"/>
              </a:rPr>
              <a:t>DATA PROFILING &amp; QUALITY ASSESSMENT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57250" y="1057275"/>
            <a:ext cx="14287500" cy="561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7"/>
              </a:lnSpc>
            </a:pPr>
            <a:r>
              <a:rPr lang="en-US" sz="4125" b="1">
                <a:solidFill>
                  <a:srgbClr val="082F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Trust is built before analysis begins.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18288000" cy="95250"/>
            <a:chOff x="0" y="0"/>
            <a:chExt cx="24384000" cy="127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27000"/>
            </a:xfrm>
            <a:custGeom>
              <a:avLst/>
              <a:gdLst/>
              <a:ahLst/>
              <a:cxnLst/>
              <a:rect l="l" t="t" r="r" b="b"/>
              <a:pathLst>
                <a:path w="24384000" h="127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B8E3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33500" y="2667000"/>
            <a:ext cx="2857500" cy="1000125"/>
            <a:chOff x="0" y="0"/>
            <a:chExt cx="3810000" cy="13335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810000" cy="1333500"/>
            </a:xfrm>
            <a:custGeom>
              <a:avLst/>
              <a:gdLst/>
              <a:ahLst/>
              <a:cxnLst/>
              <a:rect l="l" t="t" r="r" b="b"/>
              <a:pathLst>
                <a:path w="3810000" h="1333500">
                  <a:moveTo>
                    <a:pt x="50800" y="0"/>
                  </a:moveTo>
                  <a:lnTo>
                    <a:pt x="3759200" y="0"/>
                  </a:lnTo>
                  <a:cubicBezTo>
                    <a:pt x="3787256" y="0"/>
                    <a:pt x="3810000" y="22744"/>
                    <a:pt x="3810000" y="50800"/>
                  </a:cubicBezTo>
                  <a:lnTo>
                    <a:pt x="3810000" y="1282700"/>
                  </a:lnTo>
                  <a:cubicBezTo>
                    <a:pt x="3810000" y="1310756"/>
                    <a:pt x="3787256" y="1333500"/>
                    <a:pt x="3759200" y="1333500"/>
                  </a:cubicBezTo>
                  <a:lnTo>
                    <a:pt x="50800" y="1333500"/>
                  </a:lnTo>
                  <a:cubicBezTo>
                    <a:pt x="22744" y="1333500"/>
                    <a:pt x="0" y="1310756"/>
                    <a:pt x="0" y="12827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45C4D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9050"/>
              <a:ext cx="3810000" cy="1314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5"/>
                </a:lnSpc>
              </a:pPr>
              <a:r>
                <a:rPr lang="en-US" sz="1650" b="1">
                  <a:solidFill>
                    <a:srgbClr val="082F2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RAW DATA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4191000" y="3171825"/>
            <a:ext cx="1143000" cy="0"/>
          </a:xfrm>
          <a:prstGeom prst="line">
            <a:avLst/>
          </a:prstGeom>
          <a:ln w="38100" cap="rnd">
            <a:solidFill>
              <a:srgbClr val="B8E3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12" name="Group 12"/>
          <p:cNvGrpSpPr/>
          <p:nvPr/>
        </p:nvGrpSpPr>
        <p:grpSpPr>
          <a:xfrm>
            <a:off x="5429250" y="2667000"/>
            <a:ext cx="2857500" cy="1000125"/>
            <a:chOff x="0" y="0"/>
            <a:chExt cx="3810000" cy="13335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810000" cy="1333500"/>
            </a:xfrm>
            <a:custGeom>
              <a:avLst/>
              <a:gdLst/>
              <a:ahLst/>
              <a:cxnLst/>
              <a:rect l="l" t="t" r="r" b="b"/>
              <a:pathLst>
                <a:path w="3810000" h="1333500">
                  <a:moveTo>
                    <a:pt x="50800" y="0"/>
                  </a:moveTo>
                  <a:lnTo>
                    <a:pt x="3759200" y="0"/>
                  </a:lnTo>
                  <a:cubicBezTo>
                    <a:pt x="3787256" y="0"/>
                    <a:pt x="3810000" y="22744"/>
                    <a:pt x="3810000" y="50800"/>
                  </a:cubicBezTo>
                  <a:lnTo>
                    <a:pt x="3810000" y="1282700"/>
                  </a:lnTo>
                  <a:cubicBezTo>
                    <a:pt x="3810000" y="1310756"/>
                    <a:pt x="3787256" y="1333500"/>
                    <a:pt x="3759200" y="1333500"/>
                  </a:cubicBezTo>
                  <a:lnTo>
                    <a:pt x="50800" y="1333500"/>
                  </a:lnTo>
                  <a:cubicBezTo>
                    <a:pt x="22744" y="1333500"/>
                    <a:pt x="0" y="1310756"/>
                    <a:pt x="0" y="12827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45C4D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9050"/>
              <a:ext cx="3810000" cy="1314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5"/>
                </a:lnSpc>
              </a:pPr>
              <a:r>
                <a:rPr lang="en-US" sz="1650" b="1">
                  <a:solidFill>
                    <a:srgbClr val="082F2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PROFILING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>
            <a:off x="8286750" y="3171825"/>
            <a:ext cx="1143000" cy="0"/>
          </a:xfrm>
          <a:prstGeom prst="line">
            <a:avLst/>
          </a:prstGeom>
          <a:ln w="38100" cap="rnd">
            <a:solidFill>
              <a:srgbClr val="B8E3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16" name="Group 16"/>
          <p:cNvGrpSpPr/>
          <p:nvPr/>
        </p:nvGrpSpPr>
        <p:grpSpPr>
          <a:xfrm>
            <a:off x="9525000" y="2667000"/>
            <a:ext cx="2857500" cy="1000125"/>
            <a:chOff x="0" y="0"/>
            <a:chExt cx="3810000" cy="13335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810000" cy="1333500"/>
            </a:xfrm>
            <a:custGeom>
              <a:avLst/>
              <a:gdLst/>
              <a:ahLst/>
              <a:cxnLst/>
              <a:rect l="l" t="t" r="r" b="b"/>
              <a:pathLst>
                <a:path w="3810000" h="1333500">
                  <a:moveTo>
                    <a:pt x="50800" y="0"/>
                  </a:moveTo>
                  <a:lnTo>
                    <a:pt x="3759200" y="0"/>
                  </a:lnTo>
                  <a:cubicBezTo>
                    <a:pt x="3787256" y="0"/>
                    <a:pt x="3810000" y="22744"/>
                    <a:pt x="3810000" y="50800"/>
                  </a:cubicBezTo>
                  <a:lnTo>
                    <a:pt x="3810000" y="1282700"/>
                  </a:lnTo>
                  <a:cubicBezTo>
                    <a:pt x="3810000" y="1310756"/>
                    <a:pt x="3787256" y="1333500"/>
                    <a:pt x="3759200" y="1333500"/>
                  </a:cubicBezTo>
                  <a:lnTo>
                    <a:pt x="50800" y="1333500"/>
                  </a:lnTo>
                  <a:cubicBezTo>
                    <a:pt x="22744" y="1333500"/>
                    <a:pt x="0" y="1310756"/>
                    <a:pt x="0" y="12827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45C4D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19050"/>
              <a:ext cx="3810000" cy="1314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5"/>
                </a:lnSpc>
              </a:pPr>
              <a:r>
                <a:rPr lang="en-US" sz="1650" b="1">
                  <a:solidFill>
                    <a:srgbClr val="082F2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CLEANING</a:t>
              </a:r>
            </a:p>
          </p:txBody>
        </p:sp>
      </p:grpSp>
      <p:sp>
        <p:nvSpPr>
          <p:cNvPr id="19" name="AutoShape 19"/>
          <p:cNvSpPr/>
          <p:nvPr/>
        </p:nvSpPr>
        <p:spPr>
          <a:xfrm>
            <a:off x="12382500" y="3171825"/>
            <a:ext cx="1143000" cy="0"/>
          </a:xfrm>
          <a:prstGeom prst="line">
            <a:avLst/>
          </a:prstGeom>
          <a:ln w="38100" cap="rnd">
            <a:solidFill>
              <a:srgbClr val="B8E3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20" name="Group 20"/>
          <p:cNvGrpSpPr/>
          <p:nvPr/>
        </p:nvGrpSpPr>
        <p:grpSpPr>
          <a:xfrm>
            <a:off x="13620750" y="2667000"/>
            <a:ext cx="2857500" cy="1000125"/>
            <a:chOff x="0" y="0"/>
            <a:chExt cx="3810000" cy="13335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810000" cy="1333500"/>
            </a:xfrm>
            <a:custGeom>
              <a:avLst/>
              <a:gdLst/>
              <a:ahLst/>
              <a:cxnLst/>
              <a:rect l="l" t="t" r="r" b="b"/>
              <a:pathLst>
                <a:path w="3810000" h="1333500">
                  <a:moveTo>
                    <a:pt x="50800" y="0"/>
                  </a:moveTo>
                  <a:lnTo>
                    <a:pt x="3759200" y="0"/>
                  </a:lnTo>
                  <a:cubicBezTo>
                    <a:pt x="3787256" y="0"/>
                    <a:pt x="3810000" y="22744"/>
                    <a:pt x="3810000" y="50800"/>
                  </a:cubicBezTo>
                  <a:lnTo>
                    <a:pt x="3810000" y="1282700"/>
                  </a:lnTo>
                  <a:cubicBezTo>
                    <a:pt x="3810000" y="1310756"/>
                    <a:pt x="3787256" y="1333500"/>
                    <a:pt x="3759200" y="1333500"/>
                  </a:cubicBezTo>
                  <a:lnTo>
                    <a:pt x="50800" y="1333500"/>
                  </a:lnTo>
                  <a:cubicBezTo>
                    <a:pt x="22744" y="1333500"/>
                    <a:pt x="0" y="1310756"/>
                    <a:pt x="0" y="12827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082F2A"/>
            </a:solidFill>
            <a:ln w="19050" cap="sq">
              <a:solidFill>
                <a:srgbClr val="145C4D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19050"/>
              <a:ext cx="3810000" cy="1314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5"/>
                </a:lnSpc>
              </a:pPr>
              <a:r>
                <a:rPr lang="en-US" sz="165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VERIFIED DATA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619250" y="4743450"/>
            <a:ext cx="6477000" cy="326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172421"/>
                </a:solidFill>
                <a:latin typeface="DM Sans"/>
                <a:ea typeface="DM Sans"/>
                <a:cs typeface="DM Sans"/>
                <a:sym typeface="DM Sans"/>
              </a:rPr>
              <a:t>✓  Checked record counts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239250" y="4743450"/>
            <a:ext cx="6477000" cy="326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172421"/>
                </a:solidFill>
                <a:latin typeface="DM Sans"/>
                <a:ea typeface="DM Sans"/>
                <a:cs typeface="DM Sans"/>
                <a:sym typeface="DM Sans"/>
              </a:rPr>
              <a:t>✓  Identified missing values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19250" y="5619750"/>
            <a:ext cx="6477000" cy="326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172421"/>
                </a:solidFill>
                <a:latin typeface="DM Sans"/>
                <a:ea typeface="DM Sans"/>
                <a:cs typeface="DM Sans"/>
                <a:sym typeface="DM Sans"/>
              </a:rPr>
              <a:t>✓  Checked duplicate records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239250" y="5619750"/>
            <a:ext cx="6477000" cy="326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172421"/>
                </a:solidFill>
                <a:latin typeface="DM Sans"/>
                <a:ea typeface="DM Sans"/>
                <a:cs typeface="DM Sans"/>
                <a:sym typeface="DM Sans"/>
              </a:rPr>
              <a:t>✓  Validated primary keys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19250" y="6496050"/>
            <a:ext cx="6477000" cy="326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172421"/>
                </a:solidFill>
                <a:latin typeface="DM Sans"/>
                <a:ea typeface="DM Sans"/>
                <a:cs typeface="DM Sans"/>
                <a:sym typeface="DM Sans"/>
              </a:rPr>
              <a:t>✓  Checked foreign-key consistency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239250" y="6496050"/>
            <a:ext cx="6477000" cy="326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172421"/>
                </a:solidFill>
                <a:latin typeface="DM Sans"/>
                <a:ea typeface="DM Sans"/>
                <a:cs typeface="DM Sans"/>
                <a:sym typeface="DM Sans"/>
              </a:rPr>
              <a:t>✓  Reviewed data types and ranges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619250" y="7372350"/>
            <a:ext cx="6477000" cy="326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172421"/>
                </a:solidFill>
                <a:latin typeface="DM Sans"/>
                <a:ea typeface="DM Sans"/>
                <a:cs typeface="DM Sans"/>
                <a:sym typeface="DM Sans"/>
              </a:rPr>
              <a:t>✓  Validated categorical values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239250" y="7372350"/>
            <a:ext cx="6477000" cy="326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172421"/>
                </a:solidFill>
                <a:latin typeface="DM Sans"/>
                <a:ea typeface="DM Sans"/>
                <a:cs typeface="DM Sans"/>
                <a:sym typeface="DM Sans"/>
              </a:rPr>
              <a:t>✓  Standardized inconsistent fields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57250" y="9734550"/>
            <a:ext cx="8572500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 spc="144">
                <a:solidFill>
                  <a:srgbClr val="145C4D"/>
                </a:solidFill>
                <a:latin typeface="DM Sans Bold"/>
                <a:ea typeface="DM Sans Bold"/>
                <a:cs typeface="DM Sans Bold"/>
                <a:sym typeface="DM Sans Bold"/>
              </a:rPr>
              <a:t>DIGITAL BANKING ANALYTICS  /  DATA QUALITY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811500" y="495300"/>
            <a:ext cx="1619250" cy="76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814"/>
              </a:lnSpc>
            </a:pPr>
            <a:r>
              <a:rPr lang="en-US" sz="5700" b="1">
                <a:solidFill>
                  <a:srgbClr val="B8E34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06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57250" y="533400"/>
            <a:ext cx="904875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145C4D"/>
                </a:solidFill>
                <a:latin typeface="DM Sans Bold"/>
                <a:ea typeface="DM Sans Bold"/>
                <a:cs typeface="DM Sans Bold"/>
                <a:sym typeface="DM Sans Bold"/>
              </a:rPr>
              <a:t>DATABASE CREATION &amp; CLEANING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57250" y="1057275"/>
            <a:ext cx="14287500" cy="561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7"/>
              </a:lnSpc>
            </a:pPr>
            <a:r>
              <a:rPr lang="en-US" sz="4125" b="1">
                <a:solidFill>
                  <a:srgbClr val="082F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 disciplined SQL foundation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18288000" cy="95250"/>
            <a:chOff x="0" y="0"/>
            <a:chExt cx="24384000" cy="127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27000"/>
            </a:xfrm>
            <a:custGeom>
              <a:avLst/>
              <a:gdLst/>
              <a:ahLst/>
              <a:cxnLst/>
              <a:rect l="l" t="t" r="r" b="b"/>
              <a:pathLst>
                <a:path w="24384000" h="127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B8E3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62000" y="2762250"/>
            <a:ext cx="2667000" cy="1047750"/>
            <a:chOff x="0" y="0"/>
            <a:chExt cx="3556000" cy="1397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556000" cy="1397000"/>
            </a:xfrm>
            <a:custGeom>
              <a:avLst/>
              <a:gdLst/>
              <a:ahLst/>
              <a:cxnLst/>
              <a:rect l="l" t="t" r="r" b="b"/>
              <a:pathLst>
                <a:path w="3556000" h="1397000">
                  <a:moveTo>
                    <a:pt x="54429" y="0"/>
                  </a:moveTo>
                  <a:lnTo>
                    <a:pt x="3501572" y="0"/>
                  </a:lnTo>
                  <a:cubicBezTo>
                    <a:pt x="3531631" y="0"/>
                    <a:pt x="3556000" y="24369"/>
                    <a:pt x="3556000" y="54429"/>
                  </a:cubicBezTo>
                  <a:lnTo>
                    <a:pt x="3556000" y="1342571"/>
                  </a:lnTo>
                  <a:cubicBezTo>
                    <a:pt x="3556000" y="1372632"/>
                    <a:pt x="3531631" y="1397000"/>
                    <a:pt x="3501572" y="1397000"/>
                  </a:cubicBezTo>
                  <a:lnTo>
                    <a:pt x="54429" y="1397000"/>
                  </a:lnTo>
                  <a:cubicBezTo>
                    <a:pt x="24369" y="1397000"/>
                    <a:pt x="0" y="1372632"/>
                    <a:pt x="0" y="1342571"/>
                  </a:cubicBezTo>
                  <a:lnTo>
                    <a:pt x="0" y="54429"/>
                  </a:lnTo>
                  <a:cubicBezTo>
                    <a:pt x="0" y="24369"/>
                    <a:pt x="24369" y="0"/>
                    <a:pt x="5442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45C4D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9050"/>
              <a:ext cx="3556000" cy="1377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5"/>
                </a:lnSpc>
              </a:pPr>
              <a:r>
                <a:rPr lang="en-US" sz="1650" b="1">
                  <a:solidFill>
                    <a:srgbClr val="082F2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CSV FILES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3429000" y="3286125"/>
            <a:ext cx="714375" cy="0"/>
          </a:xfrm>
          <a:prstGeom prst="line">
            <a:avLst/>
          </a:prstGeom>
          <a:ln w="38100" cap="flat">
            <a:solidFill>
              <a:srgbClr val="B8E3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12" name="Group 12"/>
          <p:cNvGrpSpPr/>
          <p:nvPr/>
        </p:nvGrpSpPr>
        <p:grpSpPr>
          <a:xfrm>
            <a:off x="4238625" y="2762250"/>
            <a:ext cx="2667000" cy="1047750"/>
            <a:chOff x="0" y="0"/>
            <a:chExt cx="3556000" cy="1397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556000" cy="1397000"/>
            </a:xfrm>
            <a:custGeom>
              <a:avLst/>
              <a:gdLst/>
              <a:ahLst/>
              <a:cxnLst/>
              <a:rect l="l" t="t" r="r" b="b"/>
              <a:pathLst>
                <a:path w="3556000" h="1397000">
                  <a:moveTo>
                    <a:pt x="54429" y="0"/>
                  </a:moveTo>
                  <a:lnTo>
                    <a:pt x="3501572" y="0"/>
                  </a:lnTo>
                  <a:cubicBezTo>
                    <a:pt x="3531631" y="0"/>
                    <a:pt x="3556000" y="24369"/>
                    <a:pt x="3556000" y="54429"/>
                  </a:cubicBezTo>
                  <a:lnTo>
                    <a:pt x="3556000" y="1342571"/>
                  </a:lnTo>
                  <a:cubicBezTo>
                    <a:pt x="3556000" y="1372632"/>
                    <a:pt x="3531631" y="1397000"/>
                    <a:pt x="3501572" y="1397000"/>
                  </a:cubicBezTo>
                  <a:lnTo>
                    <a:pt x="54429" y="1397000"/>
                  </a:lnTo>
                  <a:cubicBezTo>
                    <a:pt x="24369" y="1397000"/>
                    <a:pt x="0" y="1372632"/>
                    <a:pt x="0" y="1342571"/>
                  </a:cubicBezTo>
                  <a:lnTo>
                    <a:pt x="0" y="54429"/>
                  </a:lnTo>
                  <a:cubicBezTo>
                    <a:pt x="0" y="24369"/>
                    <a:pt x="24369" y="0"/>
                    <a:pt x="5442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45C4D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9050"/>
              <a:ext cx="3556000" cy="1377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5"/>
                </a:lnSpc>
              </a:pPr>
              <a:r>
                <a:rPr lang="en-US" sz="1650" b="1">
                  <a:solidFill>
                    <a:srgbClr val="082F2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DATABASE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>
            <a:off x="6905625" y="3286125"/>
            <a:ext cx="714375" cy="0"/>
          </a:xfrm>
          <a:prstGeom prst="line">
            <a:avLst/>
          </a:prstGeom>
          <a:ln w="38100" cap="flat">
            <a:solidFill>
              <a:srgbClr val="B8E3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16" name="Group 16"/>
          <p:cNvGrpSpPr/>
          <p:nvPr/>
        </p:nvGrpSpPr>
        <p:grpSpPr>
          <a:xfrm>
            <a:off x="7715250" y="2762250"/>
            <a:ext cx="2667000" cy="1047750"/>
            <a:chOff x="0" y="0"/>
            <a:chExt cx="3556000" cy="1397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556000" cy="1397000"/>
            </a:xfrm>
            <a:custGeom>
              <a:avLst/>
              <a:gdLst/>
              <a:ahLst/>
              <a:cxnLst/>
              <a:rect l="l" t="t" r="r" b="b"/>
              <a:pathLst>
                <a:path w="3556000" h="1397000">
                  <a:moveTo>
                    <a:pt x="54429" y="0"/>
                  </a:moveTo>
                  <a:lnTo>
                    <a:pt x="3501572" y="0"/>
                  </a:lnTo>
                  <a:cubicBezTo>
                    <a:pt x="3531631" y="0"/>
                    <a:pt x="3556000" y="24369"/>
                    <a:pt x="3556000" y="54429"/>
                  </a:cubicBezTo>
                  <a:lnTo>
                    <a:pt x="3556000" y="1342571"/>
                  </a:lnTo>
                  <a:cubicBezTo>
                    <a:pt x="3556000" y="1372632"/>
                    <a:pt x="3531631" y="1397000"/>
                    <a:pt x="3501572" y="1397000"/>
                  </a:cubicBezTo>
                  <a:lnTo>
                    <a:pt x="54429" y="1397000"/>
                  </a:lnTo>
                  <a:cubicBezTo>
                    <a:pt x="24369" y="1397000"/>
                    <a:pt x="0" y="1372632"/>
                    <a:pt x="0" y="1342571"/>
                  </a:cubicBezTo>
                  <a:lnTo>
                    <a:pt x="0" y="54429"/>
                  </a:lnTo>
                  <a:cubicBezTo>
                    <a:pt x="0" y="24369"/>
                    <a:pt x="24369" y="0"/>
                    <a:pt x="5442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45C4D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19050"/>
              <a:ext cx="3556000" cy="1377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5"/>
                </a:lnSpc>
              </a:pPr>
              <a:r>
                <a:rPr lang="en-US" sz="1650" b="1">
                  <a:solidFill>
                    <a:srgbClr val="082F2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CLEAN TABLES</a:t>
              </a:r>
            </a:p>
          </p:txBody>
        </p:sp>
      </p:grpSp>
      <p:sp>
        <p:nvSpPr>
          <p:cNvPr id="19" name="AutoShape 19"/>
          <p:cNvSpPr/>
          <p:nvPr/>
        </p:nvSpPr>
        <p:spPr>
          <a:xfrm>
            <a:off x="10382250" y="3286125"/>
            <a:ext cx="714375" cy="0"/>
          </a:xfrm>
          <a:prstGeom prst="line">
            <a:avLst/>
          </a:prstGeom>
          <a:ln w="38100" cap="flat">
            <a:solidFill>
              <a:srgbClr val="B8E3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20" name="Group 20"/>
          <p:cNvGrpSpPr/>
          <p:nvPr/>
        </p:nvGrpSpPr>
        <p:grpSpPr>
          <a:xfrm>
            <a:off x="11191875" y="2762250"/>
            <a:ext cx="2667000" cy="1047750"/>
            <a:chOff x="0" y="0"/>
            <a:chExt cx="3556000" cy="1397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556000" cy="1397000"/>
            </a:xfrm>
            <a:custGeom>
              <a:avLst/>
              <a:gdLst/>
              <a:ahLst/>
              <a:cxnLst/>
              <a:rect l="l" t="t" r="r" b="b"/>
              <a:pathLst>
                <a:path w="3556000" h="1397000">
                  <a:moveTo>
                    <a:pt x="54429" y="0"/>
                  </a:moveTo>
                  <a:lnTo>
                    <a:pt x="3501572" y="0"/>
                  </a:lnTo>
                  <a:cubicBezTo>
                    <a:pt x="3531631" y="0"/>
                    <a:pt x="3556000" y="24369"/>
                    <a:pt x="3556000" y="54429"/>
                  </a:cubicBezTo>
                  <a:lnTo>
                    <a:pt x="3556000" y="1342571"/>
                  </a:lnTo>
                  <a:cubicBezTo>
                    <a:pt x="3556000" y="1372632"/>
                    <a:pt x="3531631" y="1397000"/>
                    <a:pt x="3501572" y="1397000"/>
                  </a:cubicBezTo>
                  <a:lnTo>
                    <a:pt x="54429" y="1397000"/>
                  </a:lnTo>
                  <a:cubicBezTo>
                    <a:pt x="24369" y="1397000"/>
                    <a:pt x="0" y="1372632"/>
                    <a:pt x="0" y="1342571"/>
                  </a:cubicBezTo>
                  <a:lnTo>
                    <a:pt x="0" y="54429"/>
                  </a:lnTo>
                  <a:cubicBezTo>
                    <a:pt x="0" y="24369"/>
                    <a:pt x="24369" y="0"/>
                    <a:pt x="5442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45C4D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19050"/>
              <a:ext cx="3556000" cy="1377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5"/>
                </a:lnSpc>
              </a:pPr>
              <a:r>
                <a:rPr lang="en-US" sz="1650" b="1">
                  <a:solidFill>
                    <a:srgbClr val="082F2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CONSTRAINTS</a:t>
              </a:r>
            </a:p>
          </p:txBody>
        </p:sp>
      </p:grpSp>
      <p:sp>
        <p:nvSpPr>
          <p:cNvPr id="23" name="AutoShape 23"/>
          <p:cNvSpPr/>
          <p:nvPr/>
        </p:nvSpPr>
        <p:spPr>
          <a:xfrm>
            <a:off x="13858875" y="3286125"/>
            <a:ext cx="714375" cy="0"/>
          </a:xfrm>
          <a:prstGeom prst="line">
            <a:avLst/>
          </a:prstGeom>
          <a:ln w="38100" cap="flat">
            <a:solidFill>
              <a:srgbClr val="B8E3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24" name="Group 24"/>
          <p:cNvGrpSpPr/>
          <p:nvPr/>
        </p:nvGrpSpPr>
        <p:grpSpPr>
          <a:xfrm>
            <a:off x="14668500" y="2762250"/>
            <a:ext cx="2667000" cy="1047750"/>
            <a:chOff x="0" y="0"/>
            <a:chExt cx="3556000" cy="13970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556000" cy="1397000"/>
            </a:xfrm>
            <a:custGeom>
              <a:avLst/>
              <a:gdLst/>
              <a:ahLst/>
              <a:cxnLst/>
              <a:rect l="l" t="t" r="r" b="b"/>
              <a:pathLst>
                <a:path w="3556000" h="1397000">
                  <a:moveTo>
                    <a:pt x="54429" y="0"/>
                  </a:moveTo>
                  <a:lnTo>
                    <a:pt x="3501572" y="0"/>
                  </a:lnTo>
                  <a:cubicBezTo>
                    <a:pt x="3531631" y="0"/>
                    <a:pt x="3556000" y="24369"/>
                    <a:pt x="3556000" y="54429"/>
                  </a:cubicBezTo>
                  <a:lnTo>
                    <a:pt x="3556000" y="1342571"/>
                  </a:lnTo>
                  <a:cubicBezTo>
                    <a:pt x="3556000" y="1372632"/>
                    <a:pt x="3531631" y="1397000"/>
                    <a:pt x="3501572" y="1397000"/>
                  </a:cubicBezTo>
                  <a:lnTo>
                    <a:pt x="54429" y="1397000"/>
                  </a:lnTo>
                  <a:cubicBezTo>
                    <a:pt x="24369" y="1397000"/>
                    <a:pt x="0" y="1372632"/>
                    <a:pt x="0" y="1342571"/>
                  </a:cubicBezTo>
                  <a:lnTo>
                    <a:pt x="0" y="54429"/>
                  </a:lnTo>
                  <a:cubicBezTo>
                    <a:pt x="0" y="24369"/>
                    <a:pt x="24369" y="0"/>
                    <a:pt x="54429" y="0"/>
                  </a:cubicBezTo>
                  <a:close/>
                </a:path>
              </a:pathLst>
            </a:custGeom>
            <a:solidFill>
              <a:srgbClr val="082F2A"/>
            </a:solidFill>
            <a:ln w="19050" cap="sq">
              <a:solidFill>
                <a:srgbClr val="145C4D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19050"/>
              <a:ext cx="3556000" cy="1377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5"/>
                </a:lnSpc>
              </a:pPr>
              <a:r>
                <a:rPr lang="en-US" sz="165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VALIDATED DATA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428750" y="4781550"/>
            <a:ext cx="6667500" cy="34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172421"/>
                </a:solidFill>
                <a:latin typeface="DM Sans"/>
                <a:ea typeface="DM Sans"/>
                <a:cs typeface="DM Sans"/>
                <a:sym typeface="DM Sans"/>
              </a:rPr>
              <a:t>01  Created relational database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334500" y="4781550"/>
            <a:ext cx="6667500" cy="34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172421"/>
                </a:solidFill>
                <a:latin typeface="DM Sans"/>
                <a:ea typeface="DM Sans"/>
                <a:cs typeface="DM Sans"/>
                <a:sym typeface="DM Sans"/>
              </a:rPr>
              <a:t>02  Clean analytical tables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28750" y="5657850"/>
            <a:ext cx="6667500" cy="34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172421"/>
                </a:solidFill>
                <a:latin typeface="DM Sans"/>
                <a:ea typeface="DM Sans"/>
                <a:cs typeface="DM Sans"/>
                <a:sym typeface="DM Sans"/>
              </a:rPr>
              <a:t>03  Appropriate data types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34500" y="5657850"/>
            <a:ext cx="6667500" cy="34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172421"/>
                </a:solidFill>
                <a:latin typeface="DM Sans"/>
                <a:ea typeface="DM Sans"/>
                <a:cs typeface="DM Sans"/>
                <a:sym typeface="DM Sans"/>
              </a:rPr>
              <a:t>04  Primary keys established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28750" y="6534150"/>
            <a:ext cx="6667500" cy="34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172421"/>
                </a:solidFill>
                <a:latin typeface="DM Sans"/>
                <a:ea typeface="DM Sans"/>
                <a:cs typeface="DM Sans"/>
                <a:sym typeface="DM Sans"/>
              </a:rPr>
              <a:t>05  Foreign keys prepared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334500" y="6534150"/>
            <a:ext cx="6667500" cy="34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172421"/>
                </a:solidFill>
                <a:latin typeface="DM Sans"/>
                <a:ea typeface="DM Sans"/>
                <a:cs typeface="DM Sans"/>
                <a:sym typeface="DM Sans"/>
              </a:rPr>
              <a:t>06  Data standardized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28750" y="7410450"/>
            <a:ext cx="6667500" cy="34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172421"/>
                </a:solidFill>
                <a:latin typeface="DM Sans"/>
                <a:ea typeface="DM Sans"/>
                <a:cs typeface="DM Sans"/>
                <a:sym typeface="DM Sans"/>
              </a:rPr>
              <a:t>07  Tables ready for analysis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57250" y="9734550"/>
            <a:ext cx="8572500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 spc="144">
                <a:solidFill>
                  <a:srgbClr val="145C4D"/>
                </a:solidFill>
                <a:latin typeface="DM Sans Bold"/>
                <a:ea typeface="DM Sans Bold"/>
                <a:cs typeface="DM Sans Bold"/>
                <a:sym typeface="DM Sans Bold"/>
              </a:rPr>
              <a:t>DIGITAL BANKING ANALYTICS  /  DATABASE BUILD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811500" y="495300"/>
            <a:ext cx="1619250" cy="76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814"/>
              </a:lnSpc>
            </a:pPr>
            <a:r>
              <a:rPr lang="en-US" sz="5700" b="1">
                <a:solidFill>
                  <a:srgbClr val="B8E34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07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57250" y="533400"/>
            <a:ext cx="904875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145C4D"/>
                </a:solidFill>
                <a:latin typeface="DM Sans Bold"/>
                <a:ea typeface="DM Sans Bold"/>
                <a:cs typeface="DM Sans Bold"/>
                <a:sym typeface="DM Sans Bold"/>
              </a:rPr>
              <a:t>ETL &amp; DATA INGESTION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57250" y="1057275"/>
            <a:ext cx="14287500" cy="561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7"/>
              </a:lnSpc>
            </a:pPr>
            <a:r>
              <a:rPr lang="en-US" sz="4125" b="1">
                <a:solidFill>
                  <a:srgbClr val="082F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Move data with control at every handoff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18288000" cy="95250"/>
            <a:chOff x="0" y="0"/>
            <a:chExt cx="24384000" cy="127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27000"/>
            </a:xfrm>
            <a:custGeom>
              <a:avLst/>
              <a:gdLst/>
              <a:ahLst/>
              <a:cxnLst/>
              <a:rect l="l" t="t" r="r" b="b"/>
              <a:pathLst>
                <a:path w="24384000" h="127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B8E3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57250" y="2714625"/>
            <a:ext cx="2571750" cy="1190625"/>
            <a:chOff x="0" y="0"/>
            <a:chExt cx="3429000" cy="15875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429000" cy="1587500"/>
            </a:xfrm>
            <a:custGeom>
              <a:avLst/>
              <a:gdLst/>
              <a:ahLst/>
              <a:cxnLst/>
              <a:rect l="l" t="t" r="r" b="b"/>
              <a:pathLst>
                <a:path w="3429000" h="1587500">
                  <a:moveTo>
                    <a:pt x="56444" y="0"/>
                  </a:moveTo>
                  <a:lnTo>
                    <a:pt x="3372555" y="0"/>
                  </a:lnTo>
                  <a:cubicBezTo>
                    <a:pt x="3387525" y="0"/>
                    <a:pt x="3401882" y="5947"/>
                    <a:pt x="3412468" y="16532"/>
                  </a:cubicBezTo>
                  <a:cubicBezTo>
                    <a:pt x="3423053" y="27118"/>
                    <a:pt x="3429000" y="41474"/>
                    <a:pt x="3429000" y="56444"/>
                  </a:cubicBezTo>
                  <a:lnTo>
                    <a:pt x="3429000" y="1531056"/>
                  </a:lnTo>
                  <a:cubicBezTo>
                    <a:pt x="3429000" y="1546026"/>
                    <a:pt x="3423053" y="1560382"/>
                    <a:pt x="3412468" y="1570968"/>
                  </a:cubicBezTo>
                  <a:cubicBezTo>
                    <a:pt x="3401882" y="1581553"/>
                    <a:pt x="3387525" y="1587500"/>
                    <a:pt x="3372555" y="1587500"/>
                  </a:cubicBezTo>
                  <a:lnTo>
                    <a:pt x="56444" y="1587500"/>
                  </a:lnTo>
                  <a:cubicBezTo>
                    <a:pt x="41474" y="1587500"/>
                    <a:pt x="27118" y="1581553"/>
                    <a:pt x="16532" y="1570968"/>
                  </a:cubicBezTo>
                  <a:cubicBezTo>
                    <a:pt x="5947" y="1560382"/>
                    <a:pt x="0" y="1546026"/>
                    <a:pt x="0" y="1531056"/>
                  </a:cubicBezTo>
                  <a:lnTo>
                    <a:pt x="0" y="56444"/>
                  </a:lnTo>
                  <a:cubicBezTo>
                    <a:pt x="0" y="41474"/>
                    <a:pt x="5947" y="27118"/>
                    <a:pt x="16532" y="16532"/>
                  </a:cubicBezTo>
                  <a:cubicBezTo>
                    <a:pt x="27118" y="5947"/>
                    <a:pt x="41474" y="0"/>
                    <a:pt x="5644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45C4D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9050"/>
              <a:ext cx="3429000" cy="1568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5"/>
                </a:lnSpc>
              </a:pPr>
              <a:r>
                <a:rPr lang="en-US" sz="1650" b="1">
                  <a:solidFill>
                    <a:srgbClr val="082F2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RAW CSVs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3429000" y="3305175"/>
            <a:ext cx="762000" cy="0"/>
          </a:xfrm>
          <a:prstGeom prst="line">
            <a:avLst/>
          </a:prstGeom>
          <a:ln w="38100" cap="rnd">
            <a:solidFill>
              <a:srgbClr val="B8E3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12" name="Group 12"/>
          <p:cNvGrpSpPr/>
          <p:nvPr/>
        </p:nvGrpSpPr>
        <p:grpSpPr>
          <a:xfrm>
            <a:off x="4286250" y="2714625"/>
            <a:ext cx="2571750" cy="1190625"/>
            <a:chOff x="0" y="0"/>
            <a:chExt cx="3429000" cy="15875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429000" cy="1587500"/>
            </a:xfrm>
            <a:custGeom>
              <a:avLst/>
              <a:gdLst/>
              <a:ahLst/>
              <a:cxnLst/>
              <a:rect l="l" t="t" r="r" b="b"/>
              <a:pathLst>
                <a:path w="3429000" h="1587500">
                  <a:moveTo>
                    <a:pt x="56444" y="0"/>
                  </a:moveTo>
                  <a:lnTo>
                    <a:pt x="3372555" y="0"/>
                  </a:lnTo>
                  <a:cubicBezTo>
                    <a:pt x="3387525" y="0"/>
                    <a:pt x="3401882" y="5947"/>
                    <a:pt x="3412468" y="16532"/>
                  </a:cubicBezTo>
                  <a:cubicBezTo>
                    <a:pt x="3423053" y="27118"/>
                    <a:pt x="3429000" y="41474"/>
                    <a:pt x="3429000" y="56444"/>
                  </a:cubicBezTo>
                  <a:lnTo>
                    <a:pt x="3429000" y="1531056"/>
                  </a:lnTo>
                  <a:cubicBezTo>
                    <a:pt x="3429000" y="1546026"/>
                    <a:pt x="3423053" y="1560382"/>
                    <a:pt x="3412468" y="1570968"/>
                  </a:cubicBezTo>
                  <a:cubicBezTo>
                    <a:pt x="3401882" y="1581553"/>
                    <a:pt x="3387525" y="1587500"/>
                    <a:pt x="3372555" y="1587500"/>
                  </a:cubicBezTo>
                  <a:lnTo>
                    <a:pt x="56444" y="1587500"/>
                  </a:lnTo>
                  <a:cubicBezTo>
                    <a:pt x="41474" y="1587500"/>
                    <a:pt x="27118" y="1581553"/>
                    <a:pt x="16532" y="1570968"/>
                  </a:cubicBezTo>
                  <a:cubicBezTo>
                    <a:pt x="5947" y="1560382"/>
                    <a:pt x="0" y="1546026"/>
                    <a:pt x="0" y="1531056"/>
                  </a:cubicBezTo>
                  <a:lnTo>
                    <a:pt x="0" y="56444"/>
                  </a:lnTo>
                  <a:cubicBezTo>
                    <a:pt x="0" y="41474"/>
                    <a:pt x="5947" y="27118"/>
                    <a:pt x="16532" y="16532"/>
                  </a:cubicBezTo>
                  <a:cubicBezTo>
                    <a:pt x="27118" y="5947"/>
                    <a:pt x="41474" y="0"/>
                    <a:pt x="5644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45C4D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9050"/>
              <a:ext cx="3429000" cy="1568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5"/>
                </a:lnSpc>
              </a:pPr>
              <a:r>
                <a:rPr lang="en-US" sz="1650" b="1">
                  <a:solidFill>
                    <a:srgbClr val="082F2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LOAD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>
            <a:off x="6858000" y="3305175"/>
            <a:ext cx="762000" cy="0"/>
          </a:xfrm>
          <a:prstGeom prst="line">
            <a:avLst/>
          </a:prstGeom>
          <a:ln w="38100" cap="rnd">
            <a:solidFill>
              <a:srgbClr val="B8E3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16" name="Group 16"/>
          <p:cNvGrpSpPr/>
          <p:nvPr/>
        </p:nvGrpSpPr>
        <p:grpSpPr>
          <a:xfrm>
            <a:off x="7715250" y="2714625"/>
            <a:ext cx="2571750" cy="1190625"/>
            <a:chOff x="0" y="0"/>
            <a:chExt cx="3429000" cy="15875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429000" cy="1587500"/>
            </a:xfrm>
            <a:custGeom>
              <a:avLst/>
              <a:gdLst/>
              <a:ahLst/>
              <a:cxnLst/>
              <a:rect l="l" t="t" r="r" b="b"/>
              <a:pathLst>
                <a:path w="3429000" h="1587500">
                  <a:moveTo>
                    <a:pt x="56444" y="0"/>
                  </a:moveTo>
                  <a:lnTo>
                    <a:pt x="3372555" y="0"/>
                  </a:lnTo>
                  <a:cubicBezTo>
                    <a:pt x="3387525" y="0"/>
                    <a:pt x="3401882" y="5947"/>
                    <a:pt x="3412468" y="16532"/>
                  </a:cubicBezTo>
                  <a:cubicBezTo>
                    <a:pt x="3423053" y="27118"/>
                    <a:pt x="3429000" y="41474"/>
                    <a:pt x="3429000" y="56444"/>
                  </a:cubicBezTo>
                  <a:lnTo>
                    <a:pt x="3429000" y="1531056"/>
                  </a:lnTo>
                  <a:cubicBezTo>
                    <a:pt x="3429000" y="1546026"/>
                    <a:pt x="3423053" y="1560382"/>
                    <a:pt x="3412468" y="1570968"/>
                  </a:cubicBezTo>
                  <a:cubicBezTo>
                    <a:pt x="3401882" y="1581553"/>
                    <a:pt x="3387525" y="1587500"/>
                    <a:pt x="3372555" y="1587500"/>
                  </a:cubicBezTo>
                  <a:lnTo>
                    <a:pt x="56444" y="1587500"/>
                  </a:lnTo>
                  <a:cubicBezTo>
                    <a:pt x="41474" y="1587500"/>
                    <a:pt x="27118" y="1581553"/>
                    <a:pt x="16532" y="1570968"/>
                  </a:cubicBezTo>
                  <a:cubicBezTo>
                    <a:pt x="5947" y="1560382"/>
                    <a:pt x="0" y="1546026"/>
                    <a:pt x="0" y="1531056"/>
                  </a:cubicBezTo>
                  <a:lnTo>
                    <a:pt x="0" y="56444"/>
                  </a:lnTo>
                  <a:cubicBezTo>
                    <a:pt x="0" y="41474"/>
                    <a:pt x="5947" y="27118"/>
                    <a:pt x="16532" y="16532"/>
                  </a:cubicBezTo>
                  <a:cubicBezTo>
                    <a:pt x="27118" y="5947"/>
                    <a:pt x="41474" y="0"/>
                    <a:pt x="5644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45C4D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19050"/>
              <a:ext cx="3429000" cy="1568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5"/>
                </a:lnSpc>
              </a:pPr>
              <a:r>
                <a:rPr lang="en-US" sz="1650" b="1">
                  <a:solidFill>
                    <a:srgbClr val="082F2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CLEAN TABLES</a:t>
              </a:r>
            </a:p>
          </p:txBody>
        </p:sp>
      </p:grpSp>
      <p:sp>
        <p:nvSpPr>
          <p:cNvPr id="19" name="AutoShape 19"/>
          <p:cNvSpPr/>
          <p:nvPr/>
        </p:nvSpPr>
        <p:spPr>
          <a:xfrm>
            <a:off x="10287000" y="3305175"/>
            <a:ext cx="762000" cy="0"/>
          </a:xfrm>
          <a:prstGeom prst="line">
            <a:avLst/>
          </a:prstGeom>
          <a:ln w="38100" cap="rnd">
            <a:solidFill>
              <a:srgbClr val="B8E3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20" name="Group 20"/>
          <p:cNvGrpSpPr/>
          <p:nvPr/>
        </p:nvGrpSpPr>
        <p:grpSpPr>
          <a:xfrm>
            <a:off x="11144250" y="2714625"/>
            <a:ext cx="2571750" cy="1190625"/>
            <a:chOff x="0" y="0"/>
            <a:chExt cx="3429000" cy="15875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429000" cy="1587500"/>
            </a:xfrm>
            <a:custGeom>
              <a:avLst/>
              <a:gdLst/>
              <a:ahLst/>
              <a:cxnLst/>
              <a:rect l="l" t="t" r="r" b="b"/>
              <a:pathLst>
                <a:path w="3429000" h="1587500">
                  <a:moveTo>
                    <a:pt x="56444" y="0"/>
                  </a:moveTo>
                  <a:lnTo>
                    <a:pt x="3372555" y="0"/>
                  </a:lnTo>
                  <a:cubicBezTo>
                    <a:pt x="3387525" y="0"/>
                    <a:pt x="3401882" y="5947"/>
                    <a:pt x="3412468" y="16532"/>
                  </a:cubicBezTo>
                  <a:cubicBezTo>
                    <a:pt x="3423053" y="27118"/>
                    <a:pt x="3429000" y="41474"/>
                    <a:pt x="3429000" y="56444"/>
                  </a:cubicBezTo>
                  <a:lnTo>
                    <a:pt x="3429000" y="1531056"/>
                  </a:lnTo>
                  <a:cubicBezTo>
                    <a:pt x="3429000" y="1546026"/>
                    <a:pt x="3423053" y="1560382"/>
                    <a:pt x="3412468" y="1570968"/>
                  </a:cubicBezTo>
                  <a:cubicBezTo>
                    <a:pt x="3401882" y="1581553"/>
                    <a:pt x="3387525" y="1587500"/>
                    <a:pt x="3372555" y="1587500"/>
                  </a:cubicBezTo>
                  <a:lnTo>
                    <a:pt x="56444" y="1587500"/>
                  </a:lnTo>
                  <a:cubicBezTo>
                    <a:pt x="41474" y="1587500"/>
                    <a:pt x="27118" y="1581553"/>
                    <a:pt x="16532" y="1570968"/>
                  </a:cubicBezTo>
                  <a:cubicBezTo>
                    <a:pt x="5947" y="1560382"/>
                    <a:pt x="0" y="1546026"/>
                    <a:pt x="0" y="1531056"/>
                  </a:cubicBezTo>
                  <a:lnTo>
                    <a:pt x="0" y="56444"/>
                  </a:lnTo>
                  <a:cubicBezTo>
                    <a:pt x="0" y="41474"/>
                    <a:pt x="5947" y="27118"/>
                    <a:pt x="16532" y="16532"/>
                  </a:cubicBezTo>
                  <a:cubicBezTo>
                    <a:pt x="27118" y="5947"/>
                    <a:pt x="41474" y="0"/>
                    <a:pt x="5644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45C4D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19050"/>
              <a:ext cx="3429000" cy="1568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5"/>
                </a:lnSpc>
              </a:pPr>
              <a:r>
                <a:rPr lang="en-US" sz="1650" b="1">
                  <a:solidFill>
                    <a:srgbClr val="082F2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VALIDATE</a:t>
              </a:r>
            </a:p>
          </p:txBody>
        </p:sp>
      </p:grpSp>
      <p:sp>
        <p:nvSpPr>
          <p:cNvPr id="23" name="AutoShape 23"/>
          <p:cNvSpPr/>
          <p:nvPr/>
        </p:nvSpPr>
        <p:spPr>
          <a:xfrm>
            <a:off x="13716000" y="3305175"/>
            <a:ext cx="762000" cy="0"/>
          </a:xfrm>
          <a:prstGeom prst="line">
            <a:avLst/>
          </a:prstGeom>
          <a:ln w="38100" cap="rnd">
            <a:solidFill>
              <a:srgbClr val="B8E3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24" name="Group 24"/>
          <p:cNvGrpSpPr/>
          <p:nvPr/>
        </p:nvGrpSpPr>
        <p:grpSpPr>
          <a:xfrm>
            <a:off x="14573250" y="2714625"/>
            <a:ext cx="2571750" cy="1190625"/>
            <a:chOff x="0" y="0"/>
            <a:chExt cx="3429000" cy="15875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429000" cy="1587500"/>
            </a:xfrm>
            <a:custGeom>
              <a:avLst/>
              <a:gdLst/>
              <a:ahLst/>
              <a:cxnLst/>
              <a:rect l="l" t="t" r="r" b="b"/>
              <a:pathLst>
                <a:path w="3429000" h="1587500">
                  <a:moveTo>
                    <a:pt x="56444" y="0"/>
                  </a:moveTo>
                  <a:lnTo>
                    <a:pt x="3372555" y="0"/>
                  </a:lnTo>
                  <a:cubicBezTo>
                    <a:pt x="3387525" y="0"/>
                    <a:pt x="3401882" y="5947"/>
                    <a:pt x="3412468" y="16532"/>
                  </a:cubicBezTo>
                  <a:cubicBezTo>
                    <a:pt x="3423053" y="27118"/>
                    <a:pt x="3429000" y="41474"/>
                    <a:pt x="3429000" y="56444"/>
                  </a:cubicBezTo>
                  <a:lnTo>
                    <a:pt x="3429000" y="1531056"/>
                  </a:lnTo>
                  <a:cubicBezTo>
                    <a:pt x="3429000" y="1546026"/>
                    <a:pt x="3423053" y="1560382"/>
                    <a:pt x="3412468" y="1570968"/>
                  </a:cubicBezTo>
                  <a:cubicBezTo>
                    <a:pt x="3401882" y="1581553"/>
                    <a:pt x="3387525" y="1587500"/>
                    <a:pt x="3372555" y="1587500"/>
                  </a:cubicBezTo>
                  <a:lnTo>
                    <a:pt x="56444" y="1587500"/>
                  </a:lnTo>
                  <a:cubicBezTo>
                    <a:pt x="41474" y="1587500"/>
                    <a:pt x="27118" y="1581553"/>
                    <a:pt x="16532" y="1570968"/>
                  </a:cubicBezTo>
                  <a:cubicBezTo>
                    <a:pt x="5947" y="1560382"/>
                    <a:pt x="0" y="1546026"/>
                    <a:pt x="0" y="1531056"/>
                  </a:cubicBezTo>
                  <a:lnTo>
                    <a:pt x="0" y="56444"/>
                  </a:lnTo>
                  <a:cubicBezTo>
                    <a:pt x="0" y="41474"/>
                    <a:pt x="5947" y="27118"/>
                    <a:pt x="16532" y="16532"/>
                  </a:cubicBezTo>
                  <a:cubicBezTo>
                    <a:pt x="27118" y="5947"/>
                    <a:pt x="41474" y="0"/>
                    <a:pt x="56444" y="0"/>
                  </a:cubicBezTo>
                  <a:close/>
                </a:path>
              </a:pathLst>
            </a:custGeom>
            <a:solidFill>
              <a:srgbClr val="082F2A"/>
            </a:solidFill>
            <a:ln w="19050" cap="sq">
              <a:solidFill>
                <a:srgbClr val="145C4D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19050"/>
              <a:ext cx="3429000" cy="1568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5"/>
                </a:lnSpc>
              </a:pPr>
              <a:r>
                <a:rPr lang="en-US" sz="165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ANALYSIS-READY</a:t>
              </a:r>
            </a:p>
            <a:p>
              <a:pPr algn="ctr">
                <a:lnSpc>
                  <a:spcPts val="1815"/>
                </a:lnSpc>
              </a:pPr>
              <a:r>
                <a:rPr lang="en-US" sz="165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DATABASE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38250" y="5048250"/>
            <a:ext cx="15811500" cy="1714500"/>
            <a:chOff x="0" y="0"/>
            <a:chExt cx="21082000" cy="22860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1082000" cy="2286000"/>
            </a:xfrm>
            <a:custGeom>
              <a:avLst/>
              <a:gdLst/>
              <a:ahLst/>
              <a:cxnLst/>
              <a:rect l="l" t="t" r="r" b="b"/>
              <a:pathLst>
                <a:path w="21082000" h="2286000">
                  <a:moveTo>
                    <a:pt x="10711" y="0"/>
                  </a:moveTo>
                  <a:lnTo>
                    <a:pt x="21071289" y="0"/>
                  </a:lnTo>
                  <a:cubicBezTo>
                    <a:pt x="21074129" y="0"/>
                    <a:pt x="21076855" y="1128"/>
                    <a:pt x="21078862" y="3137"/>
                  </a:cubicBezTo>
                  <a:cubicBezTo>
                    <a:pt x="21080871" y="5146"/>
                    <a:pt x="21082000" y="7870"/>
                    <a:pt x="21082000" y="10711"/>
                  </a:cubicBezTo>
                  <a:lnTo>
                    <a:pt x="21082000" y="2275289"/>
                  </a:lnTo>
                  <a:cubicBezTo>
                    <a:pt x="21082000" y="2278130"/>
                    <a:pt x="21080871" y="2280854"/>
                    <a:pt x="21078862" y="2282863"/>
                  </a:cubicBezTo>
                  <a:cubicBezTo>
                    <a:pt x="21076855" y="2284872"/>
                    <a:pt x="21074129" y="2286000"/>
                    <a:pt x="21071289" y="2286000"/>
                  </a:cubicBezTo>
                  <a:lnTo>
                    <a:pt x="10711" y="2286000"/>
                  </a:lnTo>
                  <a:cubicBezTo>
                    <a:pt x="7870" y="2286000"/>
                    <a:pt x="5146" y="2284872"/>
                    <a:pt x="3137" y="2282863"/>
                  </a:cubicBezTo>
                  <a:cubicBezTo>
                    <a:pt x="1128" y="2280854"/>
                    <a:pt x="0" y="2278130"/>
                    <a:pt x="0" y="2275289"/>
                  </a:cubicBezTo>
                  <a:lnTo>
                    <a:pt x="0" y="10711"/>
                  </a:lnTo>
                  <a:cubicBezTo>
                    <a:pt x="0" y="7870"/>
                    <a:pt x="1128" y="5146"/>
                    <a:pt x="3137" y="3137"/>
                  </a:cubicBezTo>
                  <a:cubicBezTo>
                    <a:pt x="5146" y="1128"/>
                    <a:pt x="7870" y="0"/>
                    <a:pt x="10711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DD0C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1082000" cy="232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809750" y="5457825"/>
            <a:ext cx="14668500" cy="751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2"/>
              </a:lnSpc>
            </a:pPr>
            <a:r>
              <a:rPr lang="en-US" sz="2325">
                <a:solidFill>
                  <a:srgbClr val="172421"/>
                </a:solidFill>
                <a:latin typeface="DM Sans"/>
                <a:ea typeface="DM Sans"/>
                <a:cs typeface="DM Sans"/>
                <a:sym typeface="DM Sans"/>
              </a:rPr>
              <a:t>Imported raw CSV datasets  →  Loaded clean SQL tables  →  Validated counts &amp; relationships  →  Verified consistency  →  Prepared analytical queries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57250" y="9734550"/>
            <a:ext cx="8572500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 spc="144">
                <a:solidFill>
                  <a:srgbClr val="145C4D"/>
                </a:solidFill>
                <a:latin typeface="DM Sans Bold"/>
                <a:ea typeface="DM Sans Bold"/>
                <a:cs typeface="DM Sans Bold"/>
                <a:sym typeface="DM Sans Bold"/>
              </a:rPr>
              <a:t>DIGITAL BANKING ANALYTICS  /  CONTROLLED INGESTION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811500" y="495300"/>
            <a:ext cx="1619250" cy="76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814"/>
              </a:lnSpc>
            </a:pPr>
            <a:r>
              <a:rPr lang="en-US" sz="5700" b="1">
                <a:solidFill>
                  <a:srgbClr val="B8E34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08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57250" y="533400"/>
            <a:ext cx="904875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145C4D"/>
                </a:solidFill>
                <a:latin typeface="DM Sans Bold"/>
                <a:ea typeface="DM Sans Bold"/>
                <a:cs typeface="DM Sans Bold"/>
                <a:sym typeface="DM Sans Bold"/>
              </a:rPr>
              <a:t>RELATIONSHIPS &amp; SQL ANALYSIS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57250" y="1057275"/>
            <a:ext cx="14287500" cy="561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7"/>
              </a:lnSpc>
            </a:pPr>
            <a:r>
              <a:rPr lang="en-US" sz="4125" b="1">
                <a:solidFill>
                  <a:srgbClr val="082F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One model. Four analytical lenses.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18288000" cy="95250"/>
            <a:chOff x="0" y="0"/>
            <a:chExt cx="24384000" cy="127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27000"/>
            </a:xfrm>
            <a:custGeom>
              <a:avLst/>
              <a:gdLst/>
              <a:ahLst/>
              <a:cxnLst/>
              <a:rect l="l" t="t" r="r" b="b"/>
              <a:pathLst>
                <a:path w="24384000" h="127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B8E3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334250" y="3952875"/>
            <a:ext cx="3619500" cy="1619250"/>
            <a:chOff x="0" y="0"/>
            <a:chExt cx="4826000" cy="2159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26000" cy="2159000"/>
            </a:xfrm>
            <a:custGeom>
              <a:avLst/>
              <a:gdLst/>
              <a:ahLst/>
              <a:cxnLst/>
              <a:rect l="l" t="t" r="r" b="b"/>
              <a:pathLst>
                <a:path w="4826000" h="2159000">
                  <a:moveTo>
                    <a:pt x="40105" y="0"/>
                  </a:moveTo>
                  <a:lnTo>
                    <a:pt x="4785895" y="0"/>
                  </a:lnTo>
                  <a:cubicBezTo>
                    <a:pt x="4808044" y="0"/>
                    <a:pt x="4826000" y="17956"/>
                    <a:pt x="4826000" y="40105"/>
                  </a:cubicBezTo>
                  <a:lnTo>
                    <a:pt x="4826000" y="2118895"/>
                  </a:lnTo>
                  <a:cubicBezTo>
                    <a:pt x="4826000" y="2141044"/>
                    <a:pt x="4808044" y="2159000"/>
                    <a:pt x="4785895" y="2159000"/>
                  </a:cubicBezTo>
                  <a:lnTo>
                    <a:pt x="40105" y="2159000"/>
                  </a:lnTo>
                  <a:cubicBezTo>
                    <a:pt x="17956" y="2159000"/>
                    <a:pt x="0" y="2141044"/>
                    <a:pt x="0" y="2118895"/>
                  </a:cubicBezTo>
                  <a:lnTo>
                    <a:pt x="0" y="40105"/>
                  </a:lnTo>
                  <a:cubicBezTo>
                    <a:pt x="0" y="17956"/>
                    <a:pt x="17956" y="0"/>
                    <a:pt x="40105" y="0"/>
                  </a:cubicBezTo>
                  <a:close/>
                </a:path>
              </a:pathLst>
            </a:custGeom>
            <a:solidFill>
              <a:srgbClr val="082F2A"/>
            </a:solidFill>
            <a:ln w="19050" cap="sq">
              <a:solidFill>
                <a:srgbClr val="145C4D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9050"/>
              <a:ext cx="4826000" cy="213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5"/>
                </a:lnSpc>
              </a:pPr>
              <a:r>
                <a:rPr lang="en-US" sz="165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RELATIONAL MODEL</a:t>
              </a:r>
            </a:p>
            <a:p>
              <a:pPr algn="ctr">
                <a:lnSpc>
                  <a:spcPts val="1815"/>
                </a:lnSpc>
              </a:pPr>
              <a:r>
                <a:rPr lang="en-US" sz="165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JOINS + KEYS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57250" y="2619375"/>
            <a:ext cx="3619500" cy="2476500"/>
            <a:chOff x="0" y="0"/>
            <a:chExt cx="4826000" cy="3302000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4826000" cy="3302000"/>
              <a:chOff x="0" y="0"/>
              <a:chExt cx="4826000" cy="3302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826000" cy="3302000"/>
              </a:xfrm>
              <a:custGeom>
                <a:avLst/>
                <a:gdLst/>
                <a:ahLst/>
                <a:cxnLst/>
                <a:rect l="l" t="t" r="r" b="b"/>
                <a:pathLst>
                  <a:path w="4826000" h="3302000">
                    <a:moveTo>
                      <a:pt x="46789" y="0"/>
                    </a:moveTo>
                    <a:lnTo>
                      <a:pt x="4779211" y="0"/>
                    </a:lnTo>
                    <a:cubicBezTo>
                      <a:pt x="4805052" y="0"/>
                      <a:pt x="4826000" y="20948"/>
                      <a:pt x="4826000" y="46789"/>
                    </a:cubicBezTo>
                    <a:lnTo>
                      <a:pt x="4826000" y="3255211"/>
                    </a:lnTo>
                    <a:cubicBezTo>
                      <a:pt x="4826000" y="3281052"/>
                      <a:pt x="4805052" y="3302000"/>
                      <a:pt x="4779211" y="3302000"/>
                    </a:cubicBezTo>
                    <a:lnTo>
                      <a:pt x="46789" y="3302000"/>
                    </a:lnTo>
                    <a:cubicBezTo>
                      <a:pt x="20948" y="3302000"/>
                      <a:pt x="0" y="3281052"/>
                      <a:pt x="0" y="3255211"/>
                    </a:cubicBezTo>
                    <a:lnTo>
                      <a:pt x="0" y="46789"/>
                    </a:lnTo>
                    <a:cubicBezTo>
                      <a:pt x="0" y="20948"/>
                      <a:pt x="20948" y="0"/>
                      <a:pt x="4678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145C4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4826000" cy="334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355600" y="288925"/>
              <a:ext cx="4064000" cy="3765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 b="1" spc="207">
                  <a:solidFill>
                    <a:srgbClr val="145C4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CUSTOMER ANALYSIS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55600" y="971550"/>
              <a:ext cx="4064000" cy="1563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40"/>
                </a:lnSpc>
              </a:pPr>
              <a:r>
                <a:rPr lang="en-US" sz="1800">
                  <a:solidFill>
                    <a:srgbClr val="172421"/>
                  </a:solidFill>
                  <a:latin typeface="DM Sans"/>
                  <a:ea typeface="DM Sans"/>
                  <a:cs typeface="DM Sans"/>
                  <a:sym typeface="DM Sans"/>
                </a:rPr>
                <a:t>Segmentation</a:t>
              </a:r>
            </a:p>
            <a:p>
              <a:pPr algn="l">
                <a:lnSpc>
                  <a:spcPts val="2340"/>
                </a:lnSpc>
              </a:pPr>
              <a:r>
                <a:rPr lang="en-US" sz="1800">
                  <a:solidFill>
                    <a:srgbClr val="172421"/>
                  </a:solidFill>
                  <a:latin typeface="DM Sans"/>
                  <a:ea typeface="DM Sans"/>
                  <a:cs typeface="DM Sans"/>
                  <a:sym typeface="DM Sans"/>
                </a:rPr>
                <a:t>Product adoption</a:t>
              </a:r>
            </a:p>
            <a:p>
              <a:pPr algn="l">
                <a:lnSpc>
                  <a:spcPts val="2340"/>
                </a:lnSpc>
              </a:pPr>
              <a:r>
                <a:rPr lang="en-US" sz="1800">
                  <a:solidFill>
                    <a:srgbClr val="172421"/>
                  </a:solidFill>
                  <a:latin typeface="DM Sans"/>
                  <a:ea typeface="DM Sans"/>
                  <a:cs typeface="DM Sans"/>
                  <a:sym typeface="DM Sans"/>
                </a:rPr>
                <a:t>Digital banking usage</a:t>
              </a:r>
            </a:p>
            <a:p>
              <a:pPr algn="l">
                <a:lnSpc>
                  <a:spcPts val="2340"/>
                </a:lnSpc>
              </a:pPr>
              <a:r>
                <a:rPr lang="en-US" sz="1800">
                  <a:solidFill>
                    <a:srgbClr val="172421"/>
                  </a:solidFill>
                  <a:latin typeface="DM Sans"/>
                  <a:ea typeface="DM Sans"/>
                  <a:cs typeface="DM Sans"/>
                  <a:sym typeface="DM Sans"/>
                </a:rPr>
                <a:t>Customer value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>
            <a:off x="4476750" y="3857625"/>
            <a:ext cx="2857500" cy="904875"/>
          </a:xfrm>
          <a:prstGeom prst="line">
            <a:avLst/>
          </a:prstGeom>
          <a:ln w="19050" cap="flat">
            <a:solidFill>
              <a:srgbClr val="B8E3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18" name="Group 18"/>
          <p:cNvGrpSpPr/>
          <p:nvPr/>
        </p:nvGrpSpPr>
        <p:grpSpPr>
          <a:xfrm>
            <a:off x="857250" y="5810250"/>
            <a:ext cx="3619500" cy="2476500"/>
            <a:chOff x="0" y="0"/>
            <a:chExt cx="4826000" cy="3302000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4826000" cy="3302000"/>
              <a:chOff x="0" y="0"/>
              <a:chExt cx="4826000" cy="33020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4826000" cy="3302000"/>
              </a:xfrm>
              <a:custGeom>
                <a:avLst/>
                <a:gdLst/>
                <a:ahLst/>
                <a:cxnLst/>
                <a:rect l="l" t="t" r="r" b="b"/>
                <a:pathLst>
                  <a:path w="4826000" h="3302000">
                    <a:moveTo>
                      <a:pt x="46789" y="0"/>
                    </a:moveTo>
                    <a:lnTo>
                      <a:pt x="4779211" y="0"/>
                    </a:lnTo>
                    <a:cubicBezTo>
                      <a:pt x="4805052" y="0"/>
                      <a:pt x="4826000" y="20948"/>
                      <a:pt x="4826000" y="46789"/>
                    </a:cubicBezTo>
                    <a:lnTo>
                      <a:pt x="4826000" y="3255211"/>
                    </a:lnTo>
                    <a:cubicBezTo>
                      <a:pt x="4826000" y="3281052"/>
                      <a:pt x="4805052" y="3302000"/>
                      <a:pt x="4779211" y="3302000"/>
                    </a:cubicBezTo>
                    <a:lnTo>
                      <a:pt x="46789" y="3302000"/>
                    </a:lnTo>
                    <a:cubicBezTo>
                      <a:pt x="20948" y="3302000"/>
                      <a:pt x="0" y="3281052"/>
                      <a:pt x="0" y="3255211"/>
                    </a:cubicBezTo>
                    <a:lnTo>
                      <a:pt x="0" y="46789"/>
                    </a:lnTo>
                    <a:cubicBezTo>
                      <a:pt x="0" y="20948"/>
                      <a:pt x="20948" y="0"/>
                      <a:pt x="4678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145C4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4826000" cy="334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355600" y="288925"/>
              <a:ext cx="4064000" cy="3765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 b="1" spc="207">
                  <a:solidFill>
                    <a:srgbClr val="145C4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EMPLOYEE ANALYSIS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55600" y="971550"/>
              <a:ext cx="4064000" cy="1563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40"/>
                </a:lnSpc>
              </a:pPr>
              <a:r>
                <a:rPr lang="en-US" sz="1800">
                  <a:solidFill>
                    <a:srgbClr val="172421"/>
                  </a:solidFill>
                  <a:latin typeface="DM Sans"/>
                  <a:ea typeface="DM Sans"/>
                  <a:cs typeface="DM Sans"/>
                  <a:sym typeface="DM Sans"/>
                </a:rPr>
                <a:t>Performance</a:t>
              </a:r>
            </a:p>
            <a:p>
              <a:pPr algn="l">
                <a:lnSpc>
                  <a:spcPts val="2340"/>
                </a:lnSpc>
              </a:pPr>
              <a:r>
                <a:rPr lang="en-US" sz="1800">
                  <a:solidFill>
                    <a:srgbClr val="172421"/>
                  </a:solidFill>
                  <a:latin typeface="DM Sans"/>
                  <a:ea typeface="DM Sans"/>
                  <a:cs typeface="DM Sans"/>
                  <a:sym typeface="DM Sans"/>
                </a:rPr>
                <a:t>Training</a:t>
              </a:r>
            </a:p>
            <a:p>
              <a:pPr algn="l">
                <a:lnSpc>
                  <a:spcPts val="2340"/>
                </a:lnSpc>
              </a:pPr>
              <a:r>
                <a:rPr lang="en-US" sz="1800">
                  <a:solidFill>
                    <a:srgbClr val="172421"/>
                  </a:solidFill>
                  <a:latin typeface="DM Sans"/>
                  <a:ea typeface="DM Sans"/>
                  <a:cs typeface="DM Sans"/>
                  <a:sym typeface="DM Sans"/>
                </a:rPr>
                <a:t>Attendance</a:t>
              </a:r>
            </a:p>
            <a:p>
              <a:pPr algn="l">
                <a:lnSpc>
                  <a:spcPts val="2340"/>
                </a:lnSpc>
              </a:pPr>
              <a:r>
                <a:rPr lang="en-US" sz="1800">
                  <a:solidFill>
                    <a:srgbClr val="172421"/>
                  </a:solidFill>
                  <a:latin typeface="DM Sans"/>
                  <a:ea typeface="DM Sans"/>
                  <a:cs typeface="DM Sans"/>
                  <a:sym typeface="DM Sans"/>
                </a:rPr>
                <a:t>Customer service</a:t>
              </a:r>
            </a:p>
          </p:txBody>
        </p:sp>
      </p:grpSp>
      <p:sp>
        <p:nvSpPr>
          <p:cNvPr id="24" name="AutoShape 24"/>
          <p:cNvSpPr/>
          <p:nvPr/>
        </p:nvSpPr>
        <p:spPr>
          <a:xfrm flipV="1">
            <a:off x="4476750" y="4762500"/>
            <a:ext cx="2857500" cy="2286000"/>
          </a:xfrm>
          <a:prstGeom prst="line">
            <a:avLst/>
          </a:prstGeom>
          <a:ln w="19050" cap="flat">
            <a:solidFill>
              <a:srgbClr val="B8E3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25" name="Group 25"/>
          <p:cNvGrpSpPr/>
          <p:nvPr/>
        </p:nvGrpSpPr>
        <p:grpSpPr>
          <a:xfrm>
            <a:off x="13811250" y="2619375"/>
            <a:ext cx="3619500" cy="2476500"/>
            <a:chOff x="0" y="0"/>
            <a:chExt cx="4826000" cy="3302000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4826000" cy="3302000"/>
              <a:chOff x="0" y="0"/>
              <a:chExt cx="4826000" cy="33020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4826000" cy="3302000"/>
              </a:xfrm>
              <a:custGeom>
                <a:avLst/>
                <a:gdLst/>
                <a:ahLst/>
                <a:cxnLst/>
                <a:rect l="l" t="t" r="r" b="b"/>
                <a:pathLst>
                  <a:path w="4826000" h="3302000">
                    <a:moveTo>
                      <a:pt x="46789" y="0"/>
                    </a:moveTo>
                    <a:lnTo>
                      <a:pt x="4779211" y="0"/>
                    </a:lnTo>
                    <a:cubicBezTo>
                      <a:pt x="4805052" y="0"/>
                      <a:pt x="4826000" y="20948"/>
                      <a:pt x="4826000" y="46789"/>
                    </a:cubicBezTo>
                    <a:lnTo>
                      <a:pt x="4826000" y="3255211"/>
                    </a:lnTo>
                    <a:cubicBezTo>
                      <a:pt x="4826000" y="3281052"/>
                      <a:pt x="4805052" y="3302000"/>
                      <a:pt x="4779211" y="3302000"/>
                    </a:cubicBezTo>
                    <a:lnTo>
                      <a:pt x="46789" y="3302000"/>
                    </a:lnTo>
                    <a:cubicBezTo>
                      <a:pt x="20948" y="3302000"/>
                      <a:pt x="0" y="3281052"/>
                      <a:pt x="0" y="3255211"/>
                    </a:cubicBezTo>
                    <a:lnTo>
                      <a:pt x="0" y="46789"/>
                    </a:lnTo>
                    <a:cubicBezTo>
                      <a:pt x="0" y="20948"/>
                      <a:pt x="20948" y="0"/>
                      <a:pt x="4678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145C4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4826000" cy="334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355600" y="288925"/>
              <a:ext cx="4064000" cy="353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98">
                  <a:solidFill>
                    <a:srgbClr val="145C4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INTERACTION ANALYSIS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55600" y="971550"/>
              <a:ext cx="4064000" cy="1563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40"/>
                </a:lnSpc>
              </a:pPr>
              <a:r>
                <a:rPr lang="en-US" sz="1800">
                  <a:solidFill>
                    <a:srgbClr val="172421"/>
                  </a:solidFill>
                  <a:latin typeface="DM Sans"/>
                  <a:ea typeface="DM Sans"/>
                  <a:cs typeface="DM Sans"/>
                  <a:sym typeface="DM Sans"/>
                </a:rPr>
                <a:t>Interaction volume</a:t>
              </a:r>
            </a:p>
            <a:p>
              <a:pPr algn="l">
                <a:lnSpc>
                  <a:spcPts val="2340"/>
                </a:lnSpc>
              </a:pPr>
              <a:r>
                <a:rPr lang="en-US" sz="1800">
                  <a:solidFill>
                    <a:srgbClr val="172421"/>
                  </a:solidFill>
                  <a:latin typeface="DM Sans"/>
                  <a:ea typeface="DM Sans"/>
                  <a:cs typeface="DM Sans"/>
                  <a:sym typeface="DM Sans"/>
                </a:rPr>
                <a:t>CSAT</a:t>
              </a:r>
            </a:p>
            <a:p>
              <a:pPr algn="l">
                <a:lnSpc>
                  <a:spcPts val="2340"/>
                </a:lnSpc>
              </a:pPr>
              <a:r>
                <a:rPr lang="en-US" sz="1800">
                  <a:solidFill>
                    <a:srgbClr val="172421"/>
                  </a:solidFill>
                  <a:latin typeface="DM Sans"/>
                  <a:ea typeface="DM Sans"/>
                  <a:cs typeface="DM Sans"/>
                  <a:sym typeface="DM Sans"/>
                </a:rPr>
                <a:t>Resolution time</a:t>
              </a:r>
            </a:p>
            <a:p>
              <a:pPr algn="l">
                <a:lnSpc>
                  <a:spcPts val="2340"/>
                </a:lnSpc>
              </a:pPr>
              <a:r>
                <a:rPr lang="en-US" sz="1800">
                  <a:solidFill>
                    <a:srgbClr val="172421"/>
                  </a:solidFill>
                  <a:latin typeface="DM Sans"/>
                  <a:ea typeface="DM Sans"/>
                  <a:cs typeface="DM Sans"/>
                  <a:sym typeface="DM Sans"/>
                </a:rPr>
                <a:t>Issue severity</a:t>
              </a:r>
            </a:p>
          </p:txBody>
        </p:sp>
      </p:grpSp>
      <p:sp>
        <p:nvSpPr>
          <p:cNvPr id="31" name="AutoShape 31"/>
          <p:cNvSpPr/>
          <p:nvPr/>
        </p:nvSpPr>
        <p:spPr>
          <a:xfrm flipH="1">
            <a:off x="10953750" y="3857625"/>
            <a:ext cx="2857500" cy="904875"/>
          </a:xfrm>
          <a:prstGeom prst="line">
            <a:avLst/>
          </a:prstGeom>
          <a:ln w="19050" cap="flat">
            <a:solidFill>
              <a:srgbClr val="B8E3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32" name="Group 32"/>
          <p:cNvGrpSpPr/>
          <p:nvPr/>
        </p:nvGrpSpPr>
        <p:grpSpPr>
          <a:xfrm>
            <a:off x="13811250" y="5810250"/>
            <a:ext cx="3619500" cy="2476500"/>
            <a:chOff x="0" y="0"/>
            <a:chExt cx="4826000" cy="3302000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4826000" cy="3302000"/>
              <a:chOff x="0" y="0"/>
              <a:chExt cx="4826000" cy="33020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4826000" cy="3302000"/>
              </a:xfrm>
              <a:custGeom>
                <a:avLst/>
                <a:gdLst/>
                <a:ahLst/>
                <a:cxnLst/>
                <a:rect l="l" t="t" r="r" b="b"/>
                <a:pathLst>
                  <a:path w="4826000" h="3302000">
                    <a:moveTo>
                      <a:pt x="46789" y="0"/>
                    </a:moveTo>
                    <a:lnTo>
                      <a:pt x="4779211" y="0"/>
                    </a:lnTo>
                    <a:cubicBezTo>
                      <a:pt x="4805052" y="0"/>
                      <a:pt x="4826000" y="20948"/>
                      <a:pt x="4826000" y="46789"/>
                    </a:cubicBezTo>
                    <a:lnTo>
                      <a:pt x="4826000" y="3255211"/>
                    </a:lnTo>
                    <a:cubicBezTo>
                      <a:pt x="4826000" y="3281052"/>
                      <a:pt x="4805052" y="3302000"/>
                      <a:pt x="4779211" y="3302000"/>
                    </a:cubicBezTo>
                    <a:lnTo>
                      <a:pt x="46789" y="3302000"/>
                    </a:lnTo>
                    <a:cubicBezTo>
                      <a:pt x="20948" y="3302000"/>
                      <a:pt x="0" y="3281052"/>
                      <a:pt x="0" y="3255211"/>
                    </a:cubicBezTo>
                    <a:lnTo>
                      <a:pt x="0" y="46789"/>
                    </a:lnTo>
                    <a:cubicBezTo>
                      <a:pt x="0" y="20948"/>
                      <a:pt x="20948" y="0"/>
                      <a:pt x="4678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145C4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38100"/>
                <a:ext cx="4826000" cy="334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355600" y="288925"/>
              <a:ext cx="4064000" cy="3765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 b="1" spc="207">
                  <a:solidFill>
                    <a:srgbClr val="145C4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BRANCH ANALYSIS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55600" y="971550"/>
              <a:ext cx="4064000" cy="1563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40"/>
                </a:lnSpc>
              </a:pPr>
              <a:r>
                <a:rPr lang="en-US" sz="1800">
                  <a:solidFill>
                    <a:srgbClr val="172421"/>
                  </a:solidFill>
                  <a:latin typeface="DM Sans"/>
                  <a:ea typeface="DM Sans"/>
                  <a:cs typeface="DM Sans"/>
                  <a:sym typeface="DM Sans"/>
                </a:rPr>
                <a:t>Customers</a:t>
              </a:r>
            </a:p>
            <a:p>
              <a:pPr algn="l">
                <a:lnSpc>
                  <a:spcPts val="2340"/>
                </a:lnSpc>
              </a:pPr>
              <a:r>
                <a:rPr lang="en-US" sz="1800">
                  <a:solidFill>
                    <a:srgbClr val="172421"/>
                  </a:solidFill>
                  <a:latin typeface="DM Sans"/>
                  <a:ea typeface="DM Sans"/>
                  <a:cs typeface="DM Sans"/>
                  <a:sym typeface="DM Sans"/>
                </a:rPr>
                <a:t>Product sales</a:t>
              </a:r>
            </a:p>
            <a:p>
              <a:pPr algn="l">
                <a:lnSpc>
                  <a:spcPts val="2340"/>
                </a:lnSpc>
              </a:pPr>
              <a:r>
                <a:rPr lang="en-US" sz="1800">
                  <a:solidFill>
                    <a:srgbClr val="172421"/>
                  </a:solidFill>
                  <a:latin typeface="DM Sans"/>
                  <a:ea typeface="DM Sans"/>
                  <a:cs typeface="DM Sans"/>
                  <a:sym typeface="DM Sans"/>
                </a:rPr>
                <a:t>Interactions</a:t>
              </a:r>
            </a:p>
            <a:p>
              <a:pPr algn="l">
                <a:lnSpc>
                  <a:spcPts val="2340"/>
                </a:lnSpc>
              </a:pPr>
              <a:r>
                <a:rPr lang="en-US" sz="1800">
                  <a:solidFill>
                    <a:srgbClr val="172421"/>
                  </a:solidFill>
                  <a:latin typeface="DM Sans"/>
                  <a:ea typeface="DM Sans"/>
                  <a:cs typeface="DM Sans"/>
                  <a:sym typeface="DM Sans"/>
                </a:rPr>
                <a:t>Branch performance</a:t>
              </a:r>
            </a:p>
          </p:txBody>
        </p:sp>
      </p:grpSp>
      <p:sp>
        <p:nvSpPr>
          <p:cNvPr id="38" name="AutoShape 38"/>
          <p:cNvSpPr/>
          <p:nvPr/>
        </p:nvSpPr>
        <p:spPr>
          <a:xfrm flipH="1" flipV="1">
            <a:off x="10953750" y="4762500"/>
            <a:ext cx="2857500" cy="2286000"/>
          </a:xfrm>
          <a:prstGeom prst="line">
            <a:avLst/>
          </a:prstGeom>
          <a:ln w="19050" cap="flat">
            <a:solidFill>
              <a:srgbClr val="B8E3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Box 39"/>
          <p:cNvSpPr txBox="1"/>
          <p:nvPr/>
        </p:nvSpPr>
        <p:spPr>
          <a:xfrm>
            <a:off x="4762500" y="8067675"/>
            <a:ext cx="8763000" cy="272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1" spc="198">
                <a:solidFill>
                  <a:srgbClr val="145C4D"/>
                </a:solidFill>
                <a:latin typeface="DM Sans Bold"/>
                <a:ea typeface="DM Sans Bold"/>
                <a:cs typeface="DM Sans Bold"/>
                <a:sym typeface="DM Sans Bold"/>
              </a:rPr>
              <a:t>RELATIONSHIPS  →  JOINS  →  AGGREGATIONS  →  BUSINESS METRICS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57250" y="9734550"/>
            <a:ext cx="8572500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 spc="144">
                <a:solidFill>
                  <a:srgbClr val="145C4D"/>
                </a:solidFill>
                <a:latin typeface="DM Sans Bold"/>
                <a:ea typeface="DM Sans Bold"/>
                <a:cs typeface="DM Sans Bold"/>
                <a:sym typeface="DM Sans Bold"/>
              </a:rPr>
              <a:t>DIGITAL BANKING ANALYTICS  /  SQL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811500" y="495300"/>
            <a:ext cx="1619250" cy="76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814"/>
              </a:lnSpc>
            </a:pPr>
            <a:r>
              <a:rPr lang="en-US" sz="5700" b="1">
                <a:solidFill>
                  <a:srgbClr val="B8E34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09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57250" y="533400"/>
            <a:ext cx="904875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145C4D"/>
                </a:solidFill>
                <a:latin typeface="DM Sans Bold"/>
                <a:ea typeface="DM Sans Bold"/>
                <a:cs typeface="DM Sans Bold"/>
                <a:sym typeface="DM Sans Bold"/>
              </a:rPr>
              <a:t>SQL VIEWS &amp; POWER BI DATA LAYER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57250" y="1057275"/>
            <a:ext cx="14287500" cy="561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7"/>
              </a:lnSpc>
            </a:pPr>
            <a:r>
              <a:rPr lang="en-US" sz="4125" b="1">
                <a:solidFill>
                  <a:srgbClr val="082F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Curated views bridge engineering and insight.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18288000" cy="95250"/>
            <a:chOff x="0" y="0"/>
            <a:chExt cx="24384000" cy="127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27000"/>
            </a:xfrm>
            <a:custGeom>
              <a:avLst/>
              <a:gdLst/>
              <a:ahLst/>
              <a:cxnLst/>
              <a:rect l="l" t="t" r="r" b="b"/>
              <a:pathLst>
                <a:path w="24384000" h="127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B8E3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57250" y="2857500"/>
            <a:ext cx="5143500" cy="2762250"/>
            <a:chOff x="0" y="0"/>
            <a:chExt cx="6858000" cy="36830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6858000" cy="3683000"/>
              <a:chOff x="0" y="0"/>
              <a:chExt cx="6858000" cy="3683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858000" cy="36830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3683000">
                    <a:moveTo>
                      <a:pt x="32926" y="0"/>
                    </a:moveTo>
                    <a:lnTo>
                      <a:pt x="6825074" y="0"/>
                    </a:lnTo>
                    <a:cubicBezTo>
                      <a:pt x="6833807" y="0"/>
                      <a:pt x="6842182" y="3469"/>
                      <a:pt x="6848356" y="9644"/>
                    </a:cubicBezTo>
                    <a:cubicBezTo>
                      <a:pt x="6854531" y="15819"/>
                      <a:pt x="6858000" y="24193"/>
                      <a:pt x="6858000" y="32926"/>
                    </a:cubicBezTo>
                    <a:lnTo>
                      <a:pt x="6858000" y="3650074"/>
                    </a:lnTo>
                    <a:cubicBezTo>
                      <a:pt x="6858000" y="3658807"/>
                      <a:pt x="6854531" y="3667182"/>
                      <a:pt x="6848356" y="3673356"/>
                    </a:cubicBezTo>
                    <a:cubicBezTo>
                      <a:pt x="6842182" y="3679531"/>
                      <a:pt x="6833807" y="3683000"/>
                      <a:pt x="6825074" y="3683000"/>
                    </a:cubicBezTo>
                    <a:lnTo>
                      <a:pt x="32926" y="3683000"/>
                    </a:lnTo>
                    <a:cubicBezTo>
                      <a:pt x="24193" y="3683000"/>
                      <a:pt x="15819" y="3679531"/>
                      <a:pt x="9644" y="3673356"/>
                    </a:cubicBezTo>
                    <a:cubicBezTo>
                      <a:pt x="3469" y="3667182"/>
                      <a:pt x="0" y="3658807"/>
                      <a:pt x="0" y="3650074"/>
                    </a:cubicBezTo>
                    <a:lnTo>
                      <a:pt x="0" y="32926"/>
                    </a:lnTo>
                    <a:cubicBezTo>
                      <a:pt x="0" y="24193"/>
                      <a:pt x="3469" y="15819"/>
                      <a:pt x="9644" y="9644"/>
                    </a:cubicBezTo>
                    <a:cubicBezTo>
                      <a:pt x="15819" y="3469"/>
                      <a:pt x="24193" y="0"/>
                      <a:pt x="3292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145C4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6858000" cy="372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406400" y="482600"/>
              <a:ext cx="6045200" cy="4114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95"/>
                </a:lnSpc>
              </a:pPr>
              <a:r>
                <a:rPr lang="en-US" sz="2250" b="1">
                  <a:solidFill>
                    <a:srgbClr val="082F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vw_customer_behavior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6400" y="1577975"/>
              <a:ext cx="6045200" cy="7169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42"/>
                </a:lnSpc>
              </a:pPr>
              <a:r>
                <a:rPr lang="en-US" sz="1725">
                  <a:solidFill>
                    <a:srgbClr val="172421"/>
                  </a:solidFill>
                  <a:latin typeface="DM Sans"/>
                  <a:ea typeface="DM Sans"/>
                  <a:cs typeface="DM Sans"/>
                  <a:sym typeface="DM Sans"/>
                </a:rPr>
                <a:t>Customer info • products opted • value</a:t>
              </a:r>
            </a:p>
            <a:p>
              <a:pPr algn="l">
                <a:lnSpc>
                  <a:spcPts val="2242"/>
                </a:lnSpc>
              </a:pPr>
              <a:r>
                <a:rPr lang="en-US" sz="1725">
                  <a:solidFill>
                    <a:srgbClr val="172421"/>
                  </a:solidFill>
                  <a:latin typeface="DM Sans"/>
                  <a:ea typeface="DM Sans"/>
                  <a:cs typeface="DM Sans"/>
                  <a:sym typeface="DM Sans"/>
                </a:rPr>
                <a:t>interactions • CSAT • resolution time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>
            <a:off x="6000750" y="4238625"/>
            <a:ext cx="571500" cy="0"/>
          </a:xfrm>
          <a:prstGeom prst="line">
            <a:avLst/>
          </a:prstGeom>
          <a:ln w="47625" cap="rnd">
            <a:solidFill>
              <a:srgbClr val="B8E3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15" name="Group 15"/>
          <p:cNvGrpSpPr/>
          <p:nvPr/>
        </p:nvGrpSpPr>
        <p:grpSpPr>
          <a:xfrm>
            <a:off x="6667500" y="2857500"/>
            <a:ext cx="5143500" cy="2762250"/>
            <a:chOff x="0" y="0"/>
            <a:chExt cx="6858000" cy="3683000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6858000" cy="3683000"/>
              <a:chOff x="0" y="0"/>
              <a:chExt cx="6858000" cy="36830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6858000" cy="36830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3683000">
                    <a:moveTo>
                      <a:pt x="32926" y="0"/>
                    </a:moveTo>
                    <a:lnTo>
                      <a:pt x="6825074" y="0"/>
                    </a:lnTo>
                    <a:cubicBezTo>
                      <a:pt x="6833807" y="0"/>
                      <a:pt x="6842182" y="3469"/>
                      <a:pt x="6848356" y="9644"/>
                    </a:cubicBezTo>
                    <a:cubicBezTo>
                      <a:pt x="6854531" y="15819"/>
                      <a:pt x="6858000" y="24193"/>
                      <a:pt x="6858000" y="32926"/>
                    </a:cubicBezTo>
                    <a:lnTo>
                      <a:pt x="6858000" y="3650074"/>
                    </a:lnTo>
                    <a:cubicBezTo>
                      <a:pt x="6858000" y="3658807"/>
                      <a:pt x="6854531" y="3667182"/>
                      <a:pt x="6848356" y="3673356"/>
                    </a:cubicBezTo>
                    <a:cubicBezTo>
                      <a:pt x="6842182" y="3679531"/>
                      <a:pt x="6833807" y="3683000"/>
                      <a:pt x="6825074" y="3683000"/>
                    </a:cubicBezTo>
                    <a:lnTo>
                      <a:pt x="32926" y="3683000"/>
                    </a:lnTo>
                    <a:cubicBezTo>
                      <a:pt x="24193" y="3683000"/>
                      <a:pt x="15819" y="3679531"/>
                      <a:pt x="9644" y="3673356"/>
                    </a:cubicBezTo>
                    <a:cubicBezTo>
                      <a:pt x="3469" y="3667182"/>
                      <a:pt x="0" y="3658807"/>
                      <a:pt x="0" y="3650074"/>
                    </a:cubicBezTo>
                    <a:lnTo>
                      <a:pt x="0" y="32926"/>
                    </a:lnTo>
                    <a:cubicBezTo>
                      <a:pt x="0" y="24193"/>
                      <a:pt x="3469" y="15819"/>
                      <a:pt x="9644" y="9644"/>
                    </a:cubicBezTo>
                    <a:cubicBezTo>
                      <a:pt x="15819" y="3469"/>
                      <a:pt x="24193" y="0"/>
                      <a:pt x="3292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145C4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6858000" cy="372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406400" y="482600"/>
              <a:ext cx="6045200" cy="4114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95"/>
                </a:lnSpc>
              </a:pPr>
              <a:r>
                <a:rPr lang="en-US" sz="2250" b="1">
                  <a:solidFill>
                    <a:srgbClr val="082F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vw_employee_performance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06400" y="1577975"/>
              <a:ext cx="6045200" cy="7169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42"/>
                </a:lnSpc>
              </a:pPr>
              <a:r>
                <a:rPr lang="en-US" sz="1725">
                  <a:solidFill>
                    <a:srgbClr val="172421"/>
                  </a:solidFill>
                  <a:latin typeface="DM Sans"/>
                  <a:ea typeface="DM Sans"/>
                  <a:cs typeface="DM Sans"/>
                  <a:sym typeface="DM Sans"/>
                </a:rPr>
                <a:t>Sales target • training • attendance</a:t>
              </a:r>
            </a:p>
            <a:p>
              <a:pPr algn="l">
                <a:lnSpc>
                  <a:spcPts val="2242"/>
                </a:lnSpc>
              </a:pPr>
              <a:r>
                <a:rPr lang="en-US" sz="1725">
                  <a:solidFill>
                    <a:srgbClr val="172421"/>
                  </a:solidFill>
                  <a:latin typeface="DM Sans"/>
                  <a:ea typeface="DM Sans"/>
                  <a:cs typeface="DM Sans"/>
                  <a:sym typeface="DM Sans"/>
                </a:rPr>
                <a:t>performance • interactions • CSAT</a:t>
              </a:r>
            </a:p>
          </p:txBody>
        </p:sp>
      </p:grpSp>
      <p:sp>
        <p:nvSpPr>
          <p:cNvPr id="21" name="AutoShape 21"/>
          <p:cNvSpPr/>
          <p:nvPr/>
        </p:nvSpPr>
        <p:spPr>
          <a:xfrm>
            <a:off x="11811000" y="4238625"/>
            <a:ext cx="571500" cy="0"/>
          </a:xfrm>
          <a:prstGeom prst="line">
            <a:avLst/>
          </a:prstGeom>
          <a:ln w="47625" cap="rnd">
            <a:solidFill>
              <a:srgbClr val="B8E3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22" name="Group 22"/>
          <p:cNvGrpSpPr/>
          <p:nvPr/>
        </p:nvGrpSpPr>
        <p:grpSpPr>
          <a:xfrm>
            <a:off x="12477750" y="2857500"/>
            <a:ext cx="5143500" cy="2762250"/>
            <a:chOff x="0" y="0"/>
            <a:chExt cx="6858000" cy="3683000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6858000" cy="3683000"/>
              <a:chOff x="0" y="0"/>
              <a:chExt cx="6858000" cy="36830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6858000" cy="36830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3683000">
                    <a:moveTo>
                      <a:pt x="32926" y="0"/>
                    </a:moveTo>
                    <a:lnTo>
                      <a:pt x="6825074" y="0"/>
                    </a:lnTo>
                    <a:cubicBezTo>
                      <a:pt x="6833807" y="0"/>
                      <a:pt x="6842182" y="3469"/>
                      <a:pt x="6848356" y="9644"/>
                    </a:cubicBezTo>
                    <a:cubicBezTo>
                      <a:pt x="6854531" y="15819"/>
                      <a:pt x="6858000" y="24193"/>
                      <a:pt x="6858000" y="32926"/>
                    </a:cubicBezTo>
                    <a:lnTo>
                      <a:pt x="6858000" y="3650074"/>
                    </a:lnTo>
                    <a:cubicBezTo>
                      <a:pt x="6858000" y="3658807"/>
                      <a:pt x="6854531" y="3667182"/>
                      <a:pt x="6848356" y="3673356"/>
                    </a:cubicBezTo>
                    <a:cubicBezTo>
                      <a:pt x="6842182" y="3679531"/>
                      <a:pt x="6833807" y="3683000"/>
                      <a:pt x="6825074" y="3683000"/>
                    </a:cubicBezTo>
                    <a:lnTo>
                      <a:pt x="32926" y="3683000"/>
                    </a:lnTo>
                    <a:cubicBezTo>
                      <a:pt x="24193" y="3683000"/>
                      <a:pt x="15819" y="3679531"/>
                      <a:pt x="9644" y="3673356"/>
                    </a:cubicBezTo>
                    <a:cubicBezTo>
                      <a:pt x="3469" y="3667182"/>
                      <a:pt x="0" y="3658807"/>
                      <a:pt x="0" y="3650074"/>
                    </a:cubicBezTo>
                    <a:lnTo>
                      <a:pt x="0" y="32926"/>
                    </a:lnTo>
                    <a:cubicBezTo>
                      <a:pt x="0" y="24193"/>
                      <a:pt x="3469" y="15819"/>
                      <a:pt x="9644" y="9644"/>
                    </a:cubicBezTo>
                    <a:cubicBezTo>
                      <a:pt x="15819" y="3469"/>
                      <a:pt x="24193" y="0"/>
                      <a:pt x="3292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145C4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6858000" cy="372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406400" y="482600"/>
              <a:ext cx="6045200" cy="4114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95"/>
                </a:lnSpc>
              </a:pPr>
              <a:r>
                <a:rPr lang="en-US" sz="2250" b="1">
                  <a:solidFill>
                    <a:srgbClr val="082F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vw_branch_performance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06400" y="1577975"/>
              <a:ext cx="6045200" cy="7169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42"/>
                </a:lnSpc>
              </a:pPr>
              <a:r>
                <a:rPr lang="en-US" sz="1725">
                  <a:solidFill>
                    <a:srgbClr val="172421"/>
                  </a:solidFill>
                  <a:latin typeface="DM Sans"/>
                  <a:ea typeface="DM Sans"/>
                  <a:cs typeface="DM Sans"/>
                  <a:sym typeface="DM Sans"/>
                </a:rPr>
                <a:t>Customers • products sold • total sales</a:t>
              </a:r>
            </a:p>
            <a:p>
              <a:pPr algn="l">
                <a:lnSpc>
                  <a:spcPts val="2242"/>
                </a:lnSpc>
              </a:pPr>
              <a:r>
                <a:rPr lang="en-US" sz="1725">
                  <a:solidFill>
                    <a:srgbClr val="172421"/>
                  </a:solidFill>
                  <a:latin typeface="DM Sans"/>
                  <a:ea typeface="DM Sans"/>
                  <a:cs typeface="DM Sans"/>
                  <a:sym typeface="DM Sans"/>
                </a:rPr>
                <a:t>interactions • CSAT • resolution time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2000250" y="6572250"/>
            <a:ext cx="14287500" cy="1190625"/>
            <a:chOff x="0" y="0"/>
            <a:chExt cx="19050000" cy="15875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9050000" cy="1587500"/>
            </a:xfrm>
            <a:custGeom>
              <a:avLst/>
              <a:gdLst/>
              <a:ahLst/>
              <a:cxnLst/>
              <a:rect l="l" t="t" r="r" b="b"/>
              <a:pathLst>
                <a:path w="19050000" h="1587500">
                  <a:moveTo>
                    <a:pt x="11853" y="0"/>
                  </a:moveTo>
                  <a:lnTo>
                    <a:pt x="19038146" y="0"/>
                  </a:lnTo>
                  <a:cubicBezTo>
                    <a:pt x="19041290" y="0"/>
                    <a:pt x="19044306" y="1249"/>
                    <a:pt x="19046529" y="3472"/>
                  </a:cubicBezTo>
                  <a:cubicBezTo>
                    <a:pt x="19048750" y="5695"/>
                    <a:pt x="19050000" y="8710"/>
                    <a:pt x="19050000" y="11853"/>
                  </a:cubicBezTo>
                  <a:lnTo>
                    <a:pt x="19050000" y="1575647"/>
                  </a:lnTo>
                  <a:cubicBezTo>
                    <a:pt x="19050000" y="1578790"/>
                    <a:pt x="19048750" y="1581805"/>
                    <a:pt x="19046529" y="1584028"/>
                  </a:cubicBezTo>
                  <a:cubicBezTo>
                    <a:pt x="19044306" y="1586251"/>
                    <a:pt x="19041290" y="1587500"/>
                    <a:pt x="19038146" y="1587500"/>
                  </a:cubicBezTo>
                  <a:lnTo>
                    <a:pt x="11853" y="1587500"/>
                  </a:lnTo>
                  <a:cubicBezTo>
                    <a:pt x="8710" y="1587500"/>
                    <a:pt x="5695" y="1586251"/>
                    <a:pt x="3472" y="1584028"/>
                  </a:cubicBezTo>
                  <a:cubicBezTo>
                    <a:pt x="1249" y="1581805"/>
                    <a:pt x="0" y="1578790"/>
                    <a:pt x="0" y="1575647"/>
                  </a:cubicBezTo>
                  <a:lnTo>
                    <a:pt x="0" y="11853"/>
                  </a:lnTo>
                  <a:cubicBezTo>
                    <a:pt x="0" y="8710"/>
                    <a:pt x="1249" y="5695"/>
                    <a:pt x="3472" y="3472"/>
                  </a:cubicBezTo>
                  <a:cubicBezTo>
                    <a:pt x="5695" y="1249"/>
                    <a:pt x="8710" y="0"/>
                    <a:pt x="11853" y="0"/>
                  </a:cubicBezTo>
                  <a:close/>
                </a:path>
              </a:pathLst>
            </a:custGeom>
            <a:solidFill>
              <a:srgbClr val="082F2A"/>
            </a:solidFill>
            <a:ln w="19050" cap="sq">
              <a:solidFill>
                <a:srgbClr val="082F2A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19050000" cy="1625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2571750" y="6981825"/>
            <a:ext cx="13144500" cy="353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1"/>
              </a:lnSpc>
            </a:pPr>
            <a:r>
              <a:rPr lang="en-US" sz="2550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SQL prepares + aggregates.   POWER BI visualizes + invites exploration.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57250" y="9734550"/>
            <a:ext cx="8572500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 spc="144">
                <a:solidFill>
                  <a:srgbClr val="145C4D"/>
                </a:solidFill>
                <a:latin typeface="DM Sans Bold"/>
                <a:ea typeface="DM Sans Bold"/>
                <a:cs typeface="DM Sans Bold"/>
                <a:sym typeface="DM Sans Bold"/>
              </a:rPr>
              <a:t>DIGITAL BANKING ANALYTICS  /  SEMANTIC DATA LAYER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95250"/>
            <a:chOff x="0" y="0"/>
            <a:chExt cx="24384000" cy="127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27000"/>
            </a:xfrm>
            <a:custGeom>
              <a:avLst/>
              <a:gdLst/>
              <a:ahLst/>
              <a:cxnLst/>
              <a:rect l="l" t="t" r="r" b="b"/>
              <a:pathLst>
                <a:path w="24384000" h="127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B8E3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57250" y="2075497"/>
            <a:ext cx="11819743" cy="6744652"/>
          </a:xfrm>
          <a:custGeom>
            <a:avLst/>
            <a:gdLst/>
            <a:ahLst/>
            <a:cxnLst/>
            <a:rect l="l" t="t" r="r" b="b"/>
            <a:pathLst>
              <a:path w="11819743" h="6744652">
                <a:moveTo>
                  <a:pt x="0" y="0"/>
                </a:moveTo>
                <a:lnTo>
                  <a:pt x="11819743" y="0"/>
                </a:lnTo>
                <a:lnTo>
                  <a:pt x="11819743" y="6744653"/>
                </a:lnTo>
                <a:lnTo>
                  <a:pt x="0" y="67446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15811500" y="495300"/>
            <a:ext cx="1619250" cy="76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814"/>
              </a:lnSpc>
            </a:pPr>
            <a:r>
              <a:rPr lang="en-US" sz="5700" b="1">
                <a:solidFill>
                  <a:srgbClr val="B8E34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57250" y="533400"/>
            <a:ext cx="904875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145C4D"/>
                </a:solidFill>
                <a:latin typeface="DM Sans Bold"/>
                <a:ea typeface="DM Sans Bold"/>
                <a:cs typeface="DM Sans Bold"/>
                <a:sym typeface="DM Sans Bold"/>
              </a:rPr>
              <a:t>POWER BI REPORT 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57250" y="1057275"/>
            <a:ext cx="14287500" cy="561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7"/>
              </a:lnSpc>
            </a:pPr>
            <a:r>
              <a:rPr lang="en-US" sz="4125" b="1">
                <a:solidFill>
                  <a:srgbClr val="082F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Executive Overview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239750" y="2647950"/>
            <a:ext cx="3810000" cy="230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b="1" spc="171">
                <a:solidFill>
                  <a:srgbClr val="145C4D"/>
                </a:solidFill>
                <a:latin typeface="DM Sans Bold"/>
                <a:ea typeface="DM Sans Bold"/>
                <a:cs typeface="DM Sans Bold"/>
                <a:sym typeface="DM Sans Bold"/>
              </a:rPr>
              <a:t>KEY KPIs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239750" y="3114675"/>
            <a:ext cx="3905250" cy="2043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72421"/>
                </a:solidFill>
                <a:latin typeface="DM Sans"/>
                <a:ea typeface="DM Sans"/>
                <a:cs typeface="DM Sans"/>
                <a:sym typeface="DM Sans"/>
              </a:rPr>
              <a:t>Total Customers</a:t>
            </a:r>
          </a:p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72421"/>
                </a:solidFill>
                <a:latin typeface="DM Sans"/>
                <a:ea typeface="DM Sans"/>
                <a:cs typeface="DM Sans"/>
                <a:sym typeface="DM Sans"/>
              </a:rPr>
              <a:t>Total Employees</a:t>
            </a:r>
          </a:p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72421"/>
                </a:solidFill>
                <a:latin typeface="DM Sans"/>
                <a:ea typeface="DM Sans"/>
                <a:cs typeface="DM Sans"/>
                <a:sym typeface="DM Sans"/>
              </a:rPr>
              <a:t>Total Branches</a:t>
            </a:r>
          </a:p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72421"/>
                </a:solidFill>
                <a:latin typeface="DM Sans"/>
                <a:ea typeface="DM Sans"/>
                <a:cs typeface="DM Sans"/>
                <a:sym typeface="DM Sans"/>
              </a:rPr>
              <a:t>Products Opted</a:t>
            </a:r>
          </a:p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72421"/>
                </a:solidFill>
                <a:latin typeface="DM Sans"/>
                <a:ea typeface="DM Sans"/>
                <a:cs typeface="DM Sans"/>
                <a:sym typeface="DM Sans"/>
              </a:rPr>
              <a:t>Customer Interactions</a:t>
            </a:r>
          </a:p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72421"/>
                </a:solidFill>
                <a:latin typeface="DM Sans"/>
                <a:ea typeface="DM Sans"/>
                <a:cs typeface="DM Sans"/>
                <a:sym typeface="DM Sans"/>
              </a:rPr>
              <a:t>Average CSAT</a:t>
            </a:r>
          </a:p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72421"/>
                </a:solidFill>
                <a:latin typeface="DM Sans"/>
                <a:ea typeface="DM Sans"/>
                <a:cs typeface="DM Sans"/>
                <a:sym typeface="DM Sans"/>
              </a:rPr>
              <a:t>Avg. Resolution Time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239750" y="6172200"/>
            <a:ext cx="3810000" cy="230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b="1" spc="171">
                <a:solidFill>
                  <a:srgbClr val="145C4D"/>
                </a:solidFill>
                <a:latin typeface="DM Sans Bold"/>
                <a:ea typeface="DM Sans Bold"/>
                <a:cs typeface="DM Sans Bold"/>
                <a:sym typeface="DM Sans Bold"/>
              </a:rPr>
              <a:t>KEY ANALYSIS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239750" y="6638925"/>
            <a:ext cx="3905250" cy="1452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72421"/>
                </a:solidFill>
                <a:latin typeface="DM Sans"/>
                <a:ea typeface="DM Sans"/>
                <a:cs typeface="DM Sans"/>
                <a:sym typeface="DM Sans"/>
              </a:rPr>
              <a:t>Product adoption trend</a:t>
            </a:r>
          </a:p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72421"/>
                </a:solidFill>
                <a:latin typeface="DM Sans"/>
                <a:ea typeface="DM Sans"/>
                <a:cs typeface="DM Sans"/>
                <a:sym typeface="DM Sans"/>
              </a:rPr>
              <a:t>Customer segmentation</a:t>
            </a:r>
          </a:p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72421"/>
                </a:solidFill>
                <a:latin typeface="DM Sans"/>
                <a:ea typeface="DM Sans"/>
                <a:cs typeface="DM Sans"/>
                <a:sym typeface="DM Sans"/>
              </a:rPr>
              <a:t>Digital banking usage</a:t>
            </a:r>
          </a:p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72421"/>
                </a:solidFill>
                <a:latin typeface="DM Sans"/>
                <a:ea typeface="DM Sans"/>
                <a:cs typeface="DM Sans"/>
                <a:sym typeface="DM Sans"/>
              </a:rPr>
              <a:t>Product categories</a:t>
            </a:r>
          </a:p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72421"/>
                </a:solidFill>
                <a:latin typeface="DM Sans"/>
                <a:ea typeface="DM Sans"/>
                <a:cs typeface="DM Sans"/>
                <a:sym typeface="DM Sans"/>
              </a:rPr>
              <a:t>Branch interactions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7250" y="9734550"/>
            <a:ext cx="8572500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 spc="144">
                <a:solidFill>
                  <a:srgbClr val="145C4D"/>
                </a:solidFill>
                <a:latin typeface="DM Sans Bold"/>
                <a:ea typeface="DM Sans Bold"/>
                <a:cs typeface="DM Sans Bold"/>
                <a:sym typeface="DM Sans Bold"/>
              </a:rPr>
              <a:t>DIGITAL BANKING ANALYTICS  /  INTERACTIVE REPORTING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95250"/>
            <a:chOff x="0" y="0"/>
            <a:chExt cx="24384000" cy="127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27000"/>
            </a:xfrm>
            <a:custGeom>
              <a:avLst/>
              <a:gdLst/>
              <a:ahLst/>
              <a:cxnLst/>
              <a:rect l="l" t="t" r="r" b="b"/>
              <a:pathLst>
                <a:path w="24384000" h="127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B8E3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49219" y="2075497"/>
            <a:ext cx="11994732" cy="6770445"/>
          </a:xfrm>
          <a:custGeom>
            <a:avLst/>
            <a:gdLst/>
            <a:ahLst/>
            <a:cxnLst/>
            <a:rect l="l" t="t" r="r" b="b"/>
            <a:pathLst>
              <a:path w="11994732" h="6770445">
                <a:moveTo>
                  <a:pt x="0" y="0"/>
                </a:moveTo>
                <a:lnTo>
                  <a:pt x="11994733" y="0"/>
                </a:lnTo>
                <a:lnTo>
                  <a:pt x="11994733" y="6770446"/>
                </a:lnTo>
                <a:lnTo>
                  <a:pt x="0" y="67704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15811500" y="495300"/>
            <a:ext cx="1619250" cy="76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814"/>
              </a:lnSpc>
            </a:pPr>
            <a:r>
              <a:rPr lang="en-US" sz="5700" b="1">
                <a:solidFill>
                  <a:srgbClr val="B8E34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57250" y="533400"/>
            <a:ext cx="904875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145C4D"/>
                </a:solidFill>
                <a:latin typeface="DM Sans Bold"/>
                <a:ea typeface="DM Sans Bold"/>
                <a:cs typeface="DM Sans Bold"/>
                <a:sym typeface="DM Sans Bold"/>
              </a:rPr>
              <a:t>POWER BI REPORT 02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57250" y="1057275"/>
            <a:ext cx="14287500" cy="561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7"/>
              </a:lnSpc>
            </a:pPr>
            <a:r>
              <a:rPr lang="en-US" sz="4125" b="1">
                <a:solidFill>
                  <a:srgbClr val="082F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Customer Behaviour &amp; Product Analytics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239750" y="2647950"/>
            <a:ext cx="3810000" cy="230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b="1" spc="171">
                <a:solidFill>
                  <a:srgbClr val="145C4D"/>
                </a:solidFill>
                <a:latin typeface="DM Sans Bold"/>
                <a:ea typeface="DM Sans Bold"/>
                <a:cs typeface="DM Sans Bold"/>
                <a:sym typeface="DM Sans Bold"/>
              </a:rPr>
              <a:t>KEY KPIs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239750" y="3114675"/>
            <a:ext cx="3905250" cy="2043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72421"/>
                </a:solidFill>
                <a:latin typeface="DM Sans"/>
                <a:ea typeface="DM Sans"/>
                <a:cs typeface="DM Sans"/>
                <a:sym typeface="DM Sans"/>
              </a:rPr>
              <a:t>Total Customers</a:t>
            </a:r>
          </a:p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72421"/>
                </a:solidFill>
                <a:latin typeface="DM Sans"/>
                <a:ea typeface="DM Sans"/>
                <a:cs typeface="DM Sans"/>
                <a:sym typeface="DM Sans"/>
              </a:rPr>
              <a:t>Customers With Products</a:t>
            </a:r>
          </a:p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72421"/>
                </a:solidFill>
                <a:latin typeface="DM Sans"/>
                <a:ea typeface="DM Sans"/>
                <a:cs typeface="DM Sans"/>
                <a:sym typeface="DM Sans"/>
              </a:rPr>
              <a:t>Customers Without Products</a:t>
            </a:r>
          </a:p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72421"/>
                </a:solidFill>
                <a:latin typeface="DM Sans"/>
                <a:ea typeface="DM Sans"/>
                <a:cs typeface="DM Sans"/>
                <a:sym typeface="DM Sans"/>
              </a:rPr>
              <a:t>Multi-Product Customers</a:t>
            </a:r>
          </a:p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72421"/>
                </a:solidFill>
                <a:latin typeface="DM Sans"/>
                <a:ea typeface="DM Sans"/>
                <a:cs typeface="DM Sans"/>
                <a:sym typeface="DM Sans"/>
              </a:rPr>
              <a:t>Product Adoption Rate</a:t>
            </a:r>
          </a:p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72421"/>
                </a:solidFill>
                <a:latin typeface="DM Sans"/>
                <a:ea typeface="DM Sans"/>
                <a:cs typeface="DM Sans"/>
                <a:sym typeface="DM Sans"/>
              </a:rPr>
              <a:t>Avg. Products / Customer</a:t>
            </a:r>
          </a:p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72421"/>
                </a:solidFill>
                <a:latin typeface="DM Sans"/>
                <a:ea typeface="DM Sans"/>
                <a:cs typeface="DM Sans"/>
                <a:sym typeface="DM Sans"/>
              </a:rPr>
              <a:t>Average CSAT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239750" y="6172200"/>
            <a:ext cx="3810000" cy="230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b="1" spc="171">
                <a:solidFill>
                  <a:srgbClr val="145C4D"/>
                </a:solidFill>
                <a:latin typeface="DM Sans Bold"/>
                <a:ea typeface="DM Sans Bold"/>
                <a:cs typeface="DM Sans Bold"/>
                <a:sym typeface="DM Sans Bold"/>
              </a:rPr>
              <a:t>KEY ANALYSIS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239750" y="6638925"/>
            <a:ext cx="3905250" cy="1452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72421"/>
                </a:solidFill>
                <a:latin typeface="DM Sans"/>
                <a:ea typeface="DM Sans"/>
                <a:cs typeface="DM Sans"/>
                <a:sym typeface="DM Sans"/>
              </a:rPr>
              <a:t>Product value by customer</a:t>
            </a:r>
          </a:p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72421"/>
                </a:solidFill>
                <a:latin typeface="DM Sans"/>
                <a:ea typeface="DM Sans"/>
                <a:cs typeface="DM Sans"/>
                <a:sym typeface="DM Sans"/>
              </a:rPr>
              <a:t>Adoption by category</a:t>
            </a:r>
          </a:p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72421"/>
                </a:solidFill>
                <a:latin typeface="DM Sans"/>
                <a:ea typeface="DM Sans"/>
                <a:cs typeface="DM Sans"/>
                <a:sym typeface="DM Sans"/>
              </a:rPr>
              <a:t>Acquisition channels</a:t>
            </a:r>
          </a:p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72421"/>
                </a:solidFill>
                <a:latin typeface="DM Sans"/>
                <a:ea typeface="DM Sans"/>
                <a:cs typeface="DM Sans"/>
                <a:sym typeface="DM Sans"/>
              </a:rPr>
              <a:t>Customer segments</a:t>
            </a:r>
          </a:p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72421"/>
                </a:solidFill>
                <a:latin typeface="DM Sans"/>
                <a:ea typeface="DM Sans"/>
                <a:cs typeface="DM Sans"/>
                <a:sym typeface="DM Sans"/>
              </a:rPr>
              <a:t>Digital banking usage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7250" y="9734550"/>
            <a:ext cx="8572500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 spc="144">
                <a:solidFill>
                  <a:srgbClr val="145C4D"/>
                </a:solidFill>
                <a:latin typeface="DM Sans Bold"/>
                <a:ea typeface="DM Sans Bold"/>
                <a:cs typeface="DM Sans Bold"/>
                <a:sym typeface="DM Sans Bold"/>
              </a:rPr>
              <a:t>DIGITAL BANKING ANALYTICS  /  INTERACTIVE REPORTING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95250"/>
            <a:chOff x="0" y="0"/>
            <a:chExt cx="24384000" cy="127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27000"/>
            </a:xfrm>
            <a:custGeom>
              <a:avLst/>
              <a:gdLst/>
              <a:ahLst/>
              <a:cxnLst/>
              <a:rect l="l" t="t" r="r" b="b"/>
              <a:pathLst>
                <a:path w="24384000" h="127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B8E3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57250" y="2052588"/>
            <a:ext cx="11782342" cy="6666574"/>
          </a:xfrm>
          <a:custGeom>
            <a:avLst/>
            <a:gdLst/>
            <a:ahLst/>
            <a:cxnLst/>
            <a:rect l="l" t="t" r="r" b="b"/>
            <a:pathLst>
              <a:path w="11782342" h="6666574">
                <a:moveTo>
                  <a:pt x="0" y="0"/>
                </a:moveTo>
                <a:lnTo>
                  <a:pt x="11782342" y="0"/>
                </a:lnTo>
                <a:lnTo>
                  <a:pt x="11782342" y="6666574"/>
                </a:lnTo>
                <a:lnTo>
                  <a:pt x="0" y="66665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15811500" y="495300"/>
            <a:ext cx="1619250" cy="76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814"/>
              </a:lnSpc>
            </a:pPr>
            <a:r>
              <a:rPr lang="en-US" sz="5700" b="1">
                <a:solidFill>
                  <a:srgbClr val="B8E34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57250" y="533400"/>
            <a:ext cx="904875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145C4D"/>
                </a:solidFill>
                <a:latin typeface="DM Sans Bold"/>
                <a:ea typeface="DM Sans Bold"/>
                <a:cs typeface="DM Sans Bold"/>
                <a:sym typeface="DM Sans Bold"/>
              </a:rPr>
              <a:t>POWER BI REPORT 03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57250" y="1057275"/>
            <a:ext cx="14287500" cy="561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7"/>
              </a:lnSpc>
            </a:pPr>
            <a:r>
              <a:rPr lang="en-US" sz="4125" b="1">
                <a:solidFill>
                  <a:srgbClr val="082F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Employee &amp; Branch Performance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239750" y="2647950"/>
            <a:ext cx="3810000" cy="230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b="1" spc="171">
                <a:solidFill>
                  <a:srgbClr val="145C4D"/>
                </a:solidFill>
                <a:latin typeface="DM Sans Bold"/>
                <a:ea typeface="DM Sans Bold"/>
                <a:cs typeface="DM Sans Bold"/>
                <a:sym typeface="DM Sans Bold"/>
              </a:rPr>
              <a:t>KEY KPIs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239750" y="3114675"/>
            <a:ext cx="3905250" cy="2043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72421"/>
                </a:solidFill>
                <a:latin typeface="DM Sans"/>
                <a:ea typeface="DM Sans"/>
                <a:cs typeface="DM Sans"/>
                <a:sym typeface="DM Sans"/>
              </a:rPr>
              <a:t>Total Employees</a:t>
            </a:r>
          </a:p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72421"/>
                </a:solidFill>
                <a:latin typeface="DM Sans"/>
                <a:ea typeface="DM Sans"/>
                <a:cs typeface="DM Sans"/>
                <a:sym typeface="DM Sans"/>
              </a:rPr>
              <a:t>Active Employees</a:t>
            </a:r>
          </a:p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72421"/>
                </a:solidFill>
                <a:latin typeface="DM Sans"/>
                <a:ea typeface="DM Sans"/>
                <a:cs typeface="DM Sans"/>
                <a:sym typeface="DM Sans"/>
              </a:rPr>
              <a:t>Average Sales Target</a:t>
            </a:r>
          </a:p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72421"/>
                </a:solidFill>
                <a:latin typeface="DM Sans"/>
                <a:ea typeface="DM Sans"/>
                <a:cs typeface="DM Sans"/>
                <a:sym typeface="DM Sans"/>
              </a:rPr>
              <a:t>Training Hours</a:t>
            </a:r>
          </a:p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72421"/>
                </a:solidFill>
                <a:latin typeface="DM Sans"/>
                <a:ea typeface="DM Sans"/>
                <a:cs typeface="DM Sans"/>
                <a:sym typeface="DM Sans"/>
              </a:rPr>
              <a:t>Attendance</a:t>
            </a:r>
          </a:p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72421"/>
                </a:solidFill>
                <a:latin typeface="DM Sans"/>
                <a:ea typeface="DM Sans"/>
                <a:cs typeface="DM Sans"/>
                <a:sym typeface="DM Sans"/>
              </a:rPr>
              <a:t>Employee CSAT</a:t>
            </a:r>
          </a:p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72421"/>
                </a:solidFill>
                <a:latin typeface="DM Sans"/>
                <a:ea typeface="DM Sans"/>
                <a:cs typeface="DM Sans"/>
                <a:sym typeface="DM Sans"/>
              </a:rPr>
              <a:t>Resolution Time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239750" y="6172200"/>
            <a:ext cx="3810000" cy="230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b="1" spc="171">
                <a:solidFill>
                  <a:srgbClr val="145C4D"/>
                </a:solidFill>
                <a:latin typeface="DM Sans Bold"/>
                <a:ea typeface="DM Sans Bold"/>
                <a:cs typeface="DM Sans Bold"/>
                <a:sym typeface="DM Sans Bold"/>
              </a:rPr>
              <a:t>KEY ANALYSIS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239750" y="6638925"/>
            <a:ext cx="3905250" cy="1452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72421"/>
                </a:solidFill>
                <a:latin typeface="DM Sans"/>
                <a:ea typeface="DM Sans"/>
                <a:cs typeface="DM Sans"/>
                <a:sym typeface="DM Sans"/>
              </a:rPr>
              <a:t>Interactions by branch</a:t>
            </a:r>
          </a:p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72421"/>
                </a:solidFill>
                <a:latin typeface="DM Sans"/>
                <a:ea typeface="DM Sans"/>
                <a:cs typeface="DM Sans"/>
                <a:sym typeface="DM Sans"/>
              </a:rPr>
              <a:t>Training vs performance</a:t>
            </a:r>
          </a:p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72421"/>
                </a:solidFill>
                <a:latin typeface="DM Sans"/>
                <a:ea typeface="DM Sans"/>
                <a:cs typeface="DM Sans"/>
                <a:sym typeface="DM Sans"/>
              </a:rPr>
              <a:t>Product value by branch</a:t>
            </a:r>
          </a:p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72421"/>
                </a:solidFill>
                <a:latin typeface="DM Sans"/>
                <a:ea typeface="DM Sans"/>
                <a:cs typeface="DM Sans"/>
                <a:sym typeface="DM Sans"/>
              </a:rPr>
              <a:t>Performance ratings</a:t>
            </a:r>
          </a:p>
          <a:p>
            <a:pPr algn="l">
              <a:lnSpc>
                <a:spcPts val="2392"/>
              </a:lnSpc>
            </a:pPr>
            <a:r>
              <a:rPr lang="en-US" sz="1650">
                <a:solidFill>
                  <a:srgbClr val="172421"/>
                </a:solidFill>
                <a:latin typeface="DM Sans"/>
                <a:ea typeface="DM Sans"/>
                <a:cs typeface="DM Sans"/>
                <a:sym typeface="DM Sans"/>
              </a:rPr>
              <a:t>Branch benchmarking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7250" y="9734550"/>
            <a:ext cx="8572500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 spc="144">
                <a:solidFill>
                  <a:srgbClr val="145C4D"/>
                </a:solidFill>
                <a:latin typeface="DM Sans Bold"/>
                <a:ea typeface="DM Sans Bold"/>
                <a:cs typeface="DM Sans Bold"/>
                <a:sym typeface="DM Sans Bold"/>
              </a:rPr>
              <a:t>DIGITAL BANKING ANALYTICS  /  INTERACTIVE REPORTING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811500" y="495300"/>
            <a:ext cx="1619250" cy="76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814"/>
              </a:lnSpc>
            </a:pPr>
            <a:r>
              <a:rPr lang="en-US" sz="5700" b="1">
                <a:solidFill>
                  <a:srgbClr val="B8E34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13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57250" y="533400"/>
            <a:ext cx="904875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145C4D"/>
                </a:solidFill>
                <a:latin typeface="DM Sans Bold"/>
                <a:ea typeface="DM Sans Bold"/>
                <a:cs typeface="DM Sans Bold"/>
                <a:sym typeface="DM Sans Bold"/>
              </a:rPr>
              <a:t>KEY BUSINESS INSIGHTS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57250" y="1057275"/>
            <a:ext cx="14287500" cy="561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7"/>
              </a:lnSpc>
            </a:pPr>
            <a:r>
              <a:rPr lang="en-US" sz="4125" b="1">
                <a:solidFill>
                  <a:srgbClr val="082F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Six lenses for better banking decisions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18288000" cy="95250"/>
            <a:chOff x="0" y="0"/>
            <a:chExt cx="24384000" cy="127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27000"/>
            </a:xfrm>
            <a:custGeom>
              <a:avLst/>
              <a:gdLst/>
              <a:ahLst/>
              <a:cxnLst/>
              <a:rect l="l" t="t" r="r" b="b"/>
              <a:pathLst>
                <a:path w="24384000" h="127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B8E3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57250" y="2667000"/>
            <a:ext cx="5143500" cy="2333625"/>
            <a:chOff x="0" y="0"/>
            <a:chExt cx="6858000" cy="31115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6858000" cy="3111500"/>
              <a:chOff x="0" y="0"/>
              <a:chExt cx="6858000" cy="31115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858000" cy="31115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3111500">
                    <a:moveTo>
                      <a:pt x="32926" y="0"/>
                    </a:moveTo>
                    <a:lnTo>
                      <a:pt x="6825074" y="0"/>
                    </a:lnTo>
                    <a:cubicBezTo>
                      <a:pt x="6833807" y="0"/>
                      <a:pt x="6842182" y="3469"/>
                      <a:pt x="6848356" y="9644"/>
                    </a:cubicBezTo>
                    <a:cubicBezTo>
                      <a:pt x="6854531" y="15819"/>
                      <a:pt x="6858000" y="24193"/>
                      <a:pt x="6858000" y="32926"/>
                    </a:cubicBezTo>
                    <a:lnTo>
                      <a:pt x="6858000" y="3078574"/>
                    </a:lnTo>
                    <a:cubicBezTo>
                      <a:pt x="6858000" y="3087307"/>
                      <a:pt x="6854531" y="3095681"/>
                      <a:pt x="6848356" y="3101856"/>
                    </a:cubicBezTo>
                    <a:cubicBezTo>
                      <a:pt x="6842182" y="3108031"/>
                      <a:pt x="6833807" y="3111500"/>
                      <a:pt x="6825074" y="3111500"/>
                    </a:cubicBezTo>
                    <a:lnTo>
                      <a:pt x="32926" y="3111500"/>
                    </a:lnTo>
                    <a:cubicBezTo>
                      <a:pt x="24193" y="3111500"/>
                      <a:pt x="15819" y="3108031"/>
                      <a:pt x="9644" y="3101856"/>
                    </a:cubicBezTo>
                    <a:cubicBezTo>
                      <a:pt x="3469" y="3095681"/>
                      <a:pt x="0" y="3087307"/>
                      <a:pt x="0" y="3078574"/>
                    </a:cubicBezTo>
                    <a:lnTo>
                      <a:pt x="0" y="32926"/>
                    </a:lnTo>
                    <a:cubicBezTo>
                      <a:pt x="0" y="24193"/>
                      <a:pt x="3469" y="15819"/>
                      <a:pt x="9644" y="9644"/>
                    </a:cubicBezTo>
                    <a:cubicBezTo>
                      <a:pt x="15819" y="3469"/>
                      <a:pt x="24193" y="0"/>
                      <a:pt x="3292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BDD0C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6858000" cy="3149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0" y="0"/>
              <a:ext cx="152400" cy="3111500"/>
              <a:chOff x="0" y="0"/>
              <a:chExt cx="152400" cy="31115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52400" cy="31115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3111500">
                    <a:moveTo>
                      <a:pt x="0" y="0"/>
                    </a:moveTo>
                    <a:lnTo>
                      <a:pt x="152400" y="0"/>
                    </a:lnTo>
                    <a:lnTo>
                      <a:pt x="1524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B8E34A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152400" cy="3149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533400" y="412750"/>
              <a:ext cx="5715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162">
                  <a:solidFill>
                    <a:srgbClr val="145C4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CUSTOMER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33400" y="1231900"/>
              <a:ext cx="5715000" cy="7924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95"/>
                </a:lnSpc>
              </a:pPr>
              <a:r>
                <a:rPr lang="en-US" sz="2250" b="1">
                  <a:solidFill>
                    <a:srgbClr val="082F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Strong product adoption across customer segments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572250" y="2667000"/>
            <a:ext cx="5143500" cy="2333625"/>
            <a:chOff x="0" y="0"/>
            <a:chExt cx="6858000" cy="3111500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6858000" cy="3111500"/>
              <a:chOff x="0" y="0"/>
              <a:chExt cx="6858000" cy="31115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6858000" cy="31115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3111500">
                    <a:moveTo>
                      <a:pt x="32926" y="0"/>
                    </a:moveTo>
                    <a:lnTo>
                      <a:pt x="6825074" y="0"/>
                    </a:lnTo>
                    <a:cubicBezTo>
                      <a:pt x="6833807" y="0"/>
                      <a:pt x="6842182" y="3469"/>
                      <a:pt x="6848356" y="9644"/>
                    </a:cubicBezTo>
                    <a:cubicBezTo>
                      <a:pt x="6854531" y="15819"/>
                      <a:pt x="6858000" y="24193"/>
                      <a:pt x="6858000" y="32926"/>
                    </a:cubicBezTo>
                    <a:lnTo>
                      <a:pt x="6858000" y="3078574"/>
                    </a:lnTo>
                    <a:cubicBezTo>
                      <a:pt x="6858000" y="3087307"/>
                      <a:pt x="6854531" y="3095681"/>
                      <a:pt x="6848356" y="3101856"/>
                    </a:cubicBezTo>
                    <a:cubicBezTo>
                      <a:pt x="6842182" y="3108031"/>
                      <a:pt x="6833807" y="3111500"/>
                      <a:pt x="6825074" y="3111500"/>
                    </a:cubicBezTo>
                    <a:lnTo>
                      <a:pt x="32926" y="3111500"/>
                    </a:lnTo>
                    <a:cubicBezTo>
                      <a:pt x="24193" y="3111500"/>
                      <a:pt x="15819" y="3108031"/>
                      <a:pt x="9644" y="3101856"/>
                    </a:cubicBezTo>
                    <a:cubicBezTo>
                      <a:pt x="3469" y="3095681"/>
                      <a:pt x="0" y="3087307"/>
                      <a:pt x="0" y="3078574"/>
                    </a:cubicBezTo>
                    <a:lnTo>
                      <a:pt x="0" y="32926"/>
                    </a:lnTo>
                    <a:cubicBezTo>
                      <a:pt x="0" y="24193"/>
                      <a:pt x="3469" y="15819"/>
                      <a:pt x="9644" y="9644"/>
                    </a:cubicBezTo>
                    <a:cubicBezTo>
                      <a:pt x="15819" y="3469"/>
                      <a:pt x="24193" y="0"/>
                      <a:pt x="3292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BDD0C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6858000" cy="3149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0" y="0"/>
              <a:ext cx="152400" cy="3111500"/>
              <a:chOff x="0" y="0"/>
              <a:chExt cx="152400" cy="31115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52400" cy="31115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3111500">
                    <a:moveTo>
                      <a:pt x="0" y="0"/>
                    </a:moveTo>
                    <a:lnTo>
                      <a:pt x="152400" y="0"/>
                    </a:lnTo>
                    <a:lnTo>
                      <a:pt x="1524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B8E34A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152400" cy="3149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533400" y="412750"/>
              <a:ext cx="5715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162">
                  <a:solidFill>
                    <a:srgbClr val="145C4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PRODUCT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33400" y="1231900"/>
              <a:ext cx="5715000" cy="7924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95"/>
                </a:lnSpc>
              </a:pPr>
              <a:r>
                <a:rPr lang="en-US" sz="2250" b="1">
                  <a:solidFill>
                    <a:srgbClr val="082F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Categories reveal distinct adoption patterns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287250" y="2667000"/>
            <a:ext cx="5143500" cy="2333625"/>
            <a:chOff x="0" y="0"/>
            <a:chExt cx="6858000" cy="3111500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6858000" cy="3111500"/>
              <a:chOff x="0" y="0"/>
              <a:chExt cx="6858000" cy="31115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6858000" cy="31115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3111500">
                    <a:moveTo>
                      <a:pt x="32926" y="0"/>
                    </a:moveTo>
                    <a:lnTo>
                      <a:pt x="6825074" y="0"/>
                    </a:lnTo>
                    <a:cubicBezTo>
                      <a:pt x="6833807" y="0"/>
                      <a:pt x="6842182" y="3469"/>
                      <a:pt x="6848356" y="9644"/>
                    </a:cubicBezTo>
                    <a:cubicBezTo>
                      <a:pt x="6854531" y="15819"/>
                      <a:pt x="6858000" y="24193"/>
                      <a:pt x="6858000" y="32926"/>
                    </a:cubicBezTo>
                    <a:lnTo>
                      <a:pt x="6858000" y="3078574"/>
                    </a:lnTo>
                    <a:cubicBezTo>
                      <a:pt x="6858000" y="3087307"/>
                      <a:pt x="6854531" y="3095681"/>
                      <a:pt x="6848356" y="3101856"/>
                    </a:cubicBezTo>
                    <a:cubicBezTo>
                      <a:pt x="6842182" y="3108031"/>
                      <a:pt x="6833807" y="3111500"/>
                      <a:pt x="6825074" y="3111500"/>
                    </a:cubicBezTo>
                    <a:lnTo>
                      <a:pt x="32926" y="3111500"/>
                    </a:lnTo>
                    <a:cubicBezTo>
                      <a:pt x="24193" y="3111500"/>
                      <a:pt x="15819" y="3108031"/>
                      <a:pt x="9644" y="3101856"/>
                    </a:cubicBezTo>
                    <a:cubicBezTo>
                      <a:pt x="3469" y="3095681"/>
                      <a:pt x="0" y="3087307"/>
                      <a:pt x="0" y="3078574"/>
                    </a:cubicBezTo>
                    <a:lnTo>
                      <a:pt x="0" y="32926"/>
                    </a:lnTo>
                    <a:cubicBezTo>
                      <a:pt x="0" y="24193"/>
                      <a:pt x="3469" y="15819"/>
                      <a:pt x="9644" y="9644"/>
                    </a:cubicBezTo>
                    <a:cubicBezTo>
                      <a:pt x="15819" y="3469"/>
                      <a:pt x="24193" y="0"/>
                      <a:pt x="3292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BDD0C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6858000" cy="3149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0" y="0"/>
              <a:ext cx="152400" cy="3111500"/>
              <a:chOff x="0" y="0"/>
              <a:chExt cx="152400" cy="31115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52400" cy="31115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3111500">
                    <a:moveTo>
                      <a:pt x="0" y="0"/>
                    </a:moveTo>
                    <a:lnTo>
                      <a:pt x="152400" y="0"/>
                    </a:lnTo>
                    <a:lnTo>
                      <a:pt x="1524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B8E34A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38100"/>
                <a:ext cx="152400" cy="3149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533400" y="412750"/>
              <a:ext cx="5715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162">
                  <a:solidFill>
                    <a:srgbClr val="145C4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DIGITAL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33400" y="1231900"/>
              <a:ext cx="5715000" cy="7924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95"/>
                </a:lnSpc>
              </a:pPr>
              <a:r>
                <a:rPr lang="en-US" sz="2250" b="1">
                  <a:solidFill>
                    <a:srgbClr val="082F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Usage compared directly against product adoption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57250" y="5524500"/>
            <a:ext cx="5143500" cy="2333625"/>
            <a:chOff x="0" y="0"/>
            <a:chExt cx="6858000" cy="3111500"/>
          </a:xfrm>
        </p:grpSpPr>
        <p:grpSp>
          <p:nvGrpSpPr>
            <p:cNvPr id="36" name="Group 36"/>
            <p:cNvGrpSpPr/>
            <p:nvPr/>
          </p:nvGrpSpPr>
          <p:grpSpPr>
            <a:xfrm>
              <a:off x="0" y="0"/>
              <a:ext cx="6858000" cy="3111500"/>
              <a:chOff x="0" y="0"/>
              <a:chExt cx="6858000" cy="31115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6858000" cy="31115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3111500">
                    <a:moveTo>
                      <a:pt x="32926" y="0"/>
                    </a:moveTo>
                    <a:lnTo>
                      <a:pt x="6825074" y="0"/>
                    </a:lnTo>
                    <a:cubicBezTo>
                      <a:pt x="6833807" y="0"/>
                      <a:pt x="6842182" y="3469"/>
                      <a:pt x="6848356" y="9644"/>
                    </a:cubicBezTo>
                    <a:cubicBezTo>
                      <a:pt x="6854531" y="15819"/>
                      <a:pt x="6858000" y="24193"/>
                      <a:pt x="6858000" y="32926"/>
                    </a:cubicBezTo>
                    <a:lnTo>
                      <a:pt x="6858000" y="3078574"/>
                    </a:lnTo>
                    <a:cubicBezTo>
                      <a:pt x="6858000" y="3087307"/>
                      <a:pt x="6854531" y="3095681"/>
                      <a:pt x="6848356" y="3101856"/>
                    </a:cubicBezTo>
                    <a:cubicBezTo>
                      <a:pt x="6842182" y="3108031"/>
                      <a:pt x="6833807" y="3111500"/>
                      <a:pt x="6825074" y="3111500"/>
                    </a:cubicBezTo>
                    <a:lnTo>
                      <a:pt x="32926" y="3111500"/>
                    </a:lnTo>
                    <a:cubicBezTo>
                      <a:pt x="24193" y="3111500"/>
                      <a:pt x="15819" y="3108031"/>
                      <a:pt x="9644" y="3101856"/>
                    </a:cubicBezTo>
                    <a:cubicBezTo>
                      <a:pt x="3469" y="3095681"/>
                      <a:pt x="0" y="3087307"/>
                      <a:pt x="0" y="3078574"/>
                    </a:cubicBezTo>
                    <a:lnTo>
                      <a:pt x="0" y="32926"/>
                    </a:lnTo>
                    <a:cubicBezTo>
                      <a:pt x="0" y="24193"/>
                      <a:pt x="3469" y="15819"/>
                      <a:pt x="9644" y="9644"/>
                    </a:cubicBezTo>
                    <a:cubicBezTo>
                      <a:pt x="15819" y="3469"/>
                      <a:pt x="24193" y="0"/>
                      <a:pt x="3292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BDD0C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-38100"/>
                <a:ext cx="6858000" cy="3149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0" y="0"/>
              <a:ext cx="152400" cy="3111500"/>
              <a:chOff x="0" y="0"/>
              <a:chExt cx="152400" cy="31115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152400" cy="31115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3111500">
                    <a:moveTo>
                      <a:pt x="0" y="0"/>
                    </a:moveTo>
                    <a:lnTo>
                      <a:pt x="152400" y="0"/>
                    </a:lnTo>
                    <a:lnTo>
                      <a:pt x="1524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B8E34A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0" y="-38100"/>
                <a:ext cx="152400" cy="3149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533400" y="412750"/>
              <a:ext cx="5715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162">
                  <a:solidFill>
                    <a:srgbClr val="145C4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EMPLOYEE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33400" y="1231900"/>
              <a:ext cx="5715000" cy="7924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95"/>
                </a:lnSpc>
              </a:pPr>
              <a:r>
                <a:rPr lang="en-US" sz="2250" b="1">
                  <a:solidFill>
                    <a:srgbClr val="082F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Training and performance evaluated together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572250" y="5524500"/>
            <a:ext cx="5143500" cy="2333625"/>
            <a:chOff x="0" y="0"/>
            <a:chExt cx="6858000" cy="3111500"/>
          </a:xfrm>
        </p:grpSpPr>
        <p:grpSp>
          <p:nvGrpSpPr>
            <p:cNvPr id="45" name="Group 45"/>
            <p:cNvGrpSpPr/>
            <p:nvPr/>
          </p:nvGrpSpPr>
          <p:grpSpPr>
            <a:xfrm>
              <a:off x="0" y="0"/>
              <a:ext cx="6858000" cy="3111500"/>
              <a:chOff x="0" y="0"/>
              <a:chExt cx="6858000" cy="31115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6858000" cy="31115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3111500">
                    <a:moveTo>
                      <a:pt x="32926" y="0"/>
                    </a:moveTo>
                    <a:lnTo>
                      <a:pt x="6825074" y="0"/>
                    </a:lnTo>
                    <a:cubicBezTo>
                      <a:pt x="6833807" y="0"/>
                      <a:pt x="6842182" y="3469"/>
                      <a:pt x="6848356" y="9644"/>
                    </a:cubicBezTo>
                    <a:cubicBezTo>
                      <a:pt x="6854531" y="15819"/>
                      <a:pt x="6858000" y="24193"/>
                      <a:pt x="6858000" y="32926"/>
                    </a:cubicBezTo>
                    <a:lnTo>
                      <a:pt x="6858000" y="3078574"/>
                    </a:lnTo>
                    <a:cubicBezTo>
                      <a:pt x="6858000" y="3087307"/>
                      <a:pt x="6854531" y="3095681"/>
                      <a:pt x="6848356" y="3101856"/>
                    </a:cubicBezTo>
                    <a:cubicBezTo>
                      <a:pt x="6842182" y="3108031"/>
                      <a:pt x="6833807" y="3111500"/>
                      <a:pt x="6825074" y="3111500"/>
                    </a:cubicBezTo>
                    <a:lnTo>
                      <a:pt x="32926" y="3111500"/>
                    </a:lnTo>
                    <a:cubicBezTo>
                      <a:pt x="24193" y="3111500"/>
                      <a:pt x="15819" y="3108031"/>
                      <a:pt x="9644" y="3101856"/>
                    </a:cubicBezTo>
                    <a:cubicBezTo>
                      <a:pt x="3469" y="3095681"/>
                      <a:pt x="0" y="3087307"/>
                      <a:pt x="0" y="3078574"/>
                    </a:cubicBezTo>
                    <a:lnTo>
                      <a:pt x="0" y="32926"/>
                    </a:lnTo>
                    <a:cubicBezTo>
                      <a:pt x="0" y="24193"/>
                      <a:pt x="3469" y="15819"/>
                      <a:pt x="9644" y="9644"/>
                    </a:cubicBezTo>
                    <a:cubicBezTo>
                      <a:pt x="15819" y="3469"/>
                      <a:pt x="24193" y="0"/>
                      <a:pt x="3292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BDD0C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0" y="-38100"/>
                <a:ext cx="6858000" cy="3149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0" y="0"/>
              <a:ext cx="152400" cy="3111500"/>
              <a:chOff x="0" y="0"/>
              <a:chExt cx="152400" cy="31115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152400" cy="31115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3111500">
                    <a:moveTo>
                      <a:pt x="0" y="0"/>
                    </a:moveTo>
                    <a:lnTo>
                      <a:pt x="152400" y="0"/>
                    </a:lnTo>
                    <a:lnTo>
                      <a:pt x="1524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B8E34A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0" y="-38100"/>
                <a:ext cx="152400" cy="3149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51" name="TextBox 51"/>
            <p:cNvSpPr txBox="1"/>
            <p:nvPr/>
          </p:nvSpPr>
          <p:spPr>
            <a:xfrm>
              <a:off x="533400" y="412750"/>
              <a:ext cx="5715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162">
                  <a:solidFill>
                    <a:srgbClr val="145C4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BRANCH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33400" y="1231900"/>
              <a:ext cx="5715000" cy="7924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95"/>
                </a:lnSpc>
              </a:pPr>
              <a:r>
                <a:rPr lang="en-US" sz="2250" b="1">
                  <a:solidFill>
                    <a:srgbClr val="082F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Benchmark sales, customers and interactions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2287250" y="5524500"/>
            <a:ext cx="5143500" cy="2333625"/>
            <a:chOff x="0" y="0"/>
            <a:chExt cx="6858000" cy="3111500"/>
          </a:xfrm>
        </p:grpSpPr>
        <p:grpSp>
          <p:nvGrpSpPr>
            <p:cNvPr id="54" name="Group 54"/>
            <p:cNvGrpSpPr/>
            <p:nvPr/>
          </p:nvGrpSpPr>
          <p:grpSpPr>
            <a:xfrm>
              <a:off x="0" y="0"/>
              <a:ext cx="6858000" cy="3111500"/>
              <a:chOff x="0" y="0"/>
              <a:chExt cx="6858000" cy="311150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6858000" cy="31115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3111500">
                    <a:moveTo>
                      <a:pt x="32926" y="0"/>
                    </a:moveTo>
                    <a:lnTo>
                      <a:pt x="6825074" y="0"/>
                    </a:lnTo>
                    <a:cubicBezTo>
                      <a:pt x="6833807" y="0"/>
                      <a:pt x="6842182" y="3469"/>
                      <a:pt x="6848356" y="9644"/>
                    </a:cubicBezTo>
                    <a:cubicBezTo>
                      <a:pt x="6854531" y="15819"/>
                      <a:pt x="6858000" y="24193"/>
                      <a:pt x="6858000" y="32926"/>
                    </a:cubicBezTo>
                    <a:lnTo>
                      <a:pt x="6858000" y="3078574"/>
                    </a:lnTo>
                    <a:cubicBezTo>
                      <a:pt x="6858000" y="3087307"/>
                      <a:pt x="6854531" y="3095681"/>
                      <a:pt x="6848356" y="3101856"/>
                    </a:cubicBezTo>
                    <a:cubicBezTo>
                      <a:pt x="6842182" y="3108031"/>
                      <a:pt x="6833807" y="3111500"/>
                      <a:pt x="6825074" y="3111500"/>
                    </a:cubicBezTo>
                    <a:lnTo>
                      <a:pt x="32926" y="3111500"/>
                    </a:lnTo>
                    <a:cubicBezTo>
                      <a:pt x="24193" y="3111500"/>
                      <a:pt x="15819" y="3108031"/>
                      <a:pt x="9644" y="3101856"/>
                    </a:cubicBezTo>
                    <a:cubicBezTo>
                      <a:pt x="3469" y="3095681"/>
                      <a:pt x="0" y="3087307"/>
                      <a:pt x="0" y="3078574"/>
                    </a:cubicBezTo>
                    <a:lnTo>
                      <a:pt x="0" y="32926"/>
                    </a:lnTo>
                    <a:cubicBezTo>
                      <a:pt x="0" y="24193"/>
                      <a:pt x="3469" y="15819"/>
                      <a:pt x="9644" y="9644"/>
                    </a:cubicBezTo>
                    <a:cubicBezTo>
                      <a:pt x="15819" y="3469"/>
                      <a:pt x="24193" y="0"/>
                      <a:pt x="3292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BDD0C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0" y="-38100"/>
                <a:ext cx="6858000" cy="3149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0" y="0"/>
              <a:ext cx="152400" cy="3111500"/>
              <a:chOff x="0" y="0"/>
              <a:chExt cx="152400" cy="311150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152400" cy="31115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3111500">
                    <a:moveTo>
                      <a:pt x="0" y="0"/>
                    </a:moveTo>
                    <a:lnTo>
                      <a:pt x="152400" y="0"/>
                    </a:lnTo>
                    <a:lnTo>
                      <a:pt x="1524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B8E34A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0" y="-38100"/>
                <a:ext cx="152400" cy="3149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60" name="TextBox 60"/>
            <p:cNvSpPr txBox="1"/>
            <p:nvPr/>
          </p:nvSpPr>
          <p:spPr>
            <a:xfrm>
              <a:off x="533400" y="412750"/>
              <a:ext cx="5715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162">
                  <a:solidFill>
                    <a:srgbClr val="145C4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SERVICE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33400" y="1231900"/>
              <a:ext cx="5715000" cy="7924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95"/>
                </a:lnSpc>
              </a:pPr>
              <a:r>
                <a:rPr lang="en-US" sz="2250" b="1">
                  <a:solidFill>
                    <a:srgbClr val="082F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CSAT and resolution time signal service quality</a:t>
              </a: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857250" y="9734550"/>
            <a:ext cx="8572500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 spc="144">
                <a:solidFill>
                  <a:srgbClr val="145C4D"/>
                </a:solidFill>
                <a:latin typeface="DM Sans Bold"/>
                <a:ea typeface="DM Sans Bold"/>
                <a:cs typeface="DM Sans Bold"/>
                <a:sym typeface="DM Sans Bold"/>
              </a:rPr>
              <a:t>DIGITAL BANKING ANALYTICS  /  DECISION SIGNALS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811500" y="495300"/>
            <a:ext cx="1619250" cy="76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814"/>
              </a:lnSpc>
            </a:pPr>
            <a:r>
              <a:rPr lang="en-US" sz="5700" b="1">
                <a:solidFill>
                  <a:srgbClr val="B8E34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14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57250" y="533400"/>
            <a:ext cx="904875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145C4D"/>
                </a:solidFill>
                <a:latin typeface="DM Sans Bold"/>
                <a:ea typeface="DM Sans Bold"/>
                <a:cs typeface="DM Sans Bold"/>
                <a:sym typeface="DM Sans Bold"/>
              </a:rPr>
              <a:t>CHALLENGES &amp; LEARNINGS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57250" y="1057275"/>
            <a:ext cx="14287500" cy="561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7"/>
              </a:lnSpc>
            </a:pPr>
            <a:r>
              <a:rPr lang="en-US" sz="4125" b="1">
                <a:solidFill>
                  <a:srgbClr val="082F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Building capability from complexity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18288000" cy="95250"/>
            <a:chOff x="0" y="0"/>
            <a:chExt cx="24384000" cy="127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27000"/>
            </a:xfrm>
            <a:custGeom>
              <a:avLst/>
              <a:gdLst/>
              <a:ahLst/>
              <a:cxnLst/>
              <a:rect l="l" t="t" r="r" b="b"/>
              <a:pathLst>
                <a:path w="24384000" h="127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B8E34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57250" y="2667000"/>
            <a:ext cx="5143500" cy="5905500"/>
            <a:chOff x="0" y="0"/>
            <a:chExt cx="6858000" cy="78740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6858000" cy="7874000"/>
              <a:chOff x="0" y="0"/>
              <a:chExt cx="6858000" cy="7874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858000" cy="78740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7874000">
                    <a:moveTo>
                      <a:pt x="32926" y="0"/>
                    </a:moveTo>
                    <a:lnTo>
                      <a:pt x="6825074" y="0"/>
                    </a:lnTo>
                    <a:cubicBezTo>
                      <a:pt x="6833807" y="0"/>
                      <a:pt x="6842182" y="3469"/>
                      <a:pt x="6848356" y="9644"/>
                    </a:cubicBezTo>
                    <a:cubicBezTo>
                      <a:pt x="6854531" y="15819"/>
                      <a:pt x="6858000" y="24193"/>
                      <a:pt x="6858000" y="32926"/>
                    </a:cubicBezTo>
                    <a:lnTo>
                      <a:pt x="6858000" y="7841074"/>
                    </a:lnTo>
                    <a:cubicBezTo>
                      <a:pt x="6858000" y="7849807"/>
                      <a:pt x="6854531" y="7858182"/>
                      <a:pt x="6848356" y="7864356"/>
                    </a:cubicBezTo>
                    <a:cubicBezTo>
                      <a:pt x="6842182" y="7870531"/>
                      <a:pt x="6833807" y="7874000"/>
                      <a:pt x="6825074" y="7874000"/>
                    </a:cubicBezTo>
                    <a:lnTo>
                      <a:pt x="32926" y="7874000"/>
                    </a:lnTo>
                    <a:cubicBezTo>
                      <a:pt x="24193" y="7874000"/>
                      <a:pt x="15819" y="7870531"/>
                      <a:pt x="9644" y="7864356"/>
                    </a:cubicBezTo>
                    <a:cubicBezTo>
                      <a:pt x="3469" y="7858182"/>
                      <a:pt x="0" y="7849807"/>
                      <a:pt x="0" y="7841074"/>
                    </a:cubicBezTo>
                    <a:lnTo>
                      <a:pt x="0" y="32926"/>
                    </a:lnTo>
                    <a:cubicBezTo>
                      <a:pt x="0" y="24193"/>
                      <a:pt x="3469" y="15819"/>
                      <a:pt x="9644" y="9644"/>
                    </a:cubicBezTo>
                    <a:cubicBezTo>
                      <a:pt x="15819" y="3469"/>
                      <a:pt x="24193" y="0"/>
                      <a:pt x="3292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BDD0C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6858000" cy="791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444500" y="469900"/>
              <a:ext cx="5969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1" spc="225">
                  <a:solidFill>
                    <a:srgbClr val="145C4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CHALLENGES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4500" y="1457325"/>
              <a:ext cx="5969000" cy="2368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172421"/>
                  </a:solidFill>
                  <a:latin typeface="DM Sans"/>
                  <a:ea typeface="DM Sans"/>
                  <a:cs typeface="DM Sans"/>
                  <a:sym typeface="DM Sans"/>
                </a:rPr>
                <a:t>01  Understanding relational data</a:t>
              </a:r>
            </a:p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172421"/>
                  </a:solidFill>
                  <a:latin typeface="DM Sans"/>
                  <a:ea typeface="DM Sans"/>
                  <a:cs typeface="DM Sans"/>
                  <a:sym typeface="DM Sans"/>
                </a:rPr>
                <a:t>02  Data quality validation</a:t>
              </a:r>
            </a:p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172421"/>
                  </a:solidFill>
                  <a:latin typeface="DM Sans"/>
                  <a:ea typeface="DM Sans"/>
                  <a:cs typeface="DM Sans"/>
                  <a:sym typeface="DM Sans"/>
                </a:rPr>
                <a:t>03  Meaningful SQL aggregations</a:t>
              </a:r>
            </a:p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172421"/>
                  </a:solidFill>
                  <a:latin typeface="DM Sans"/>
                  <a:ea typeface="DM Sans"/>
                  <a:cs typeface="DM Sans"/>
                  <a:sym typeface="DM Sans"/>
                </a:rPr>
                <a:t>04  Business-ready views</a:t>
              </a:r>
            </a:p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172421"/>
                  </a:solidFill>
                  <a:latin typeface="DM Sans"/>
                  <a:ea typeface="DM Sans"/>
                  <a:cs typeface="DM Sans"/>
                  <a:sym typeface="DM Sans"/>
                </a:rPr>
                <a:t>05  Effective dashboards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572250" y="2667000"/>
            <a:ext cx="5143500" cy="5905500"/>
            <a:chOff x="0" y="0"/>
            <a:chExt cx="6858000" cy="7874000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6858000" cy="7874000"/>
              <a:chOff x="0" y="0"/>
              <a:chExt cx="6858000" cy="7874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6858000" cy="78740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7874000">
                    <a:moveTo>
                      <a:pt x="32926" y="0"/>
                    </a:moveTo>
                    <a:lnTo>
                      <a:pt x="6825074" y="0"/>
                    </a:lnTo>
                    <a:cubicBezTo>
                      <a:pt x="6833807" y="0"/>
                      <a:pt x="6842182" y="3469"/>
                      <a:pt x="6848356" y="9644"/>
                    </a:cubicBezTo>
                    <a:cubicBezTo>
                      <a:pt x="6854531" y="15819"/>
                      <a:pt x="6858000" y="24193"/>
                      <a:pt x="6858000" y="32926"/>
                    </a:cubicBezTo>
                    <a:lnTo>
                      <a:pt x="6858000" y="7841074"/>
                    </a:lnTo>
                    <a:cubicBezTo>
                      <a:pt x="6858000" y="7849807"/>
                      <a:pt x="6854531" y="7858182"/>
                      <a:pt x="6848356" y="7864356"/>
                    </a:cubicBezTo>
                    <a:cubicBezTo>
                      <a:pt x="6842182" y="7870531"/>
                      <a:pt x="6833807" y="7874000"/>
                      <a:pt x="6825074" y="7874000"/>
                    </a:cubicBezTo>
                    <a:lnTo>
                      <a:pt x="32926" y="7874000"/>
                    </a:lnTo>
                    <a:cubicBezTo>
                      <a:pt x="24193" y="7874000"/>
                      <a:pt x="15819" y="7870531"/>
                      <a:pt x="9644" y="7864356"/>
                    </a:cubicBezTo>
                    <a:cubicBezTo>
                      <a:pt x="3469" y="7858182"/>
                      <a:pt x="0" y="7849807"/>
                      <a:pt x="0" y="7841074"/>
                    </a:cubicBezTo>
                    <a:lnTo>
                      <a:pt x="0" y="32926"/>
                    </a:lnTo>
                    <a:cubicBezTo>
                      <a:pt x="0" y="24193"/>
                      <a:pt x="3469" y="15819"/>
                      <a:pt x="9644" y="9644"/>
                    </a:cubicBezTo>
                    <a:cubicBezTo>
                      <a:pt x="15819" y="3469"/>
                      <a:pt x="24193" y="0"/>
                      <a:pt x="3292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BDD0C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6858000" cy="791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444500" y="469900"/>
              <a:ext cx="5969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1" spc="225">
                  <a:solidFill>
                    <a:srgbClr val="145C4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WHAT I LEARNED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4500" y="1457325"/>
              <a:ext cx="5969000" cy="2368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172421"/>
                  </a:solidFill>
                  <a:latin typeface="DM Sans"/>
                  <a:ea typeface="DM Sans"/>
                  <a:cs typeface="DM Sans"/>
                  <a:sym typeface="DM Sans"/>
                </a:rPr>
                <a:t>01  End-to-end ETL workflow</a:t>
              </a:r>
            </a:p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172421"/>
                  </a:solidFill>
                  <a:latin typeface="DM Sans"/>
                  <a:ea typeface="DM Sans"/>
                  <a:cs typeface="DM Sans"/>
                  <a:sym typeface="DM Sans"/>
                </a:rPr>
                <a:t>02  Relational database design</a:t>
              </a:r>
            </a:p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172421"/>
                  </a:solidFill>
                  <a:latin typeface="DM Sans"/>
                  <a:ea typeface="DM Sans"/>
                  <a:cs typeface="DM Sans"/>
                  <a:sym typeface="DM Sans"/>
                </a:rPr>
                <a:t>03  SQL analytical thinking</a:t>
              </a:r>
            </a:p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172421"/>
                  </a:solidFill>
                  <a:latin typeface="DM Sans"/>
                  <a:ea typeface="DM Sans"/>
                  <a:cs typeface="DM Sans"/>
                  <a:sym typeface="DM Sans"/>
                </a:rPr>
                <a:t>04  Power BI data modeling</a:t>
              </a:r>
            </a:p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172421"/>
                  </a:solidFill>
                  <a:latin typeface="DM Sans"/>
                  <a:ea typeface="DM Sans"/>
                  <a:cs typeface="DM Sans"/>
                  <a:sym typeface="DM Sans"/>
                </a:rPr>
                <a:t>05  Business-focused storytelling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287250" y="2667000"/>
            <a:ext cx="5143500" cy="5905500"/>
            <a:chOff x="0" y="0"/>
            <a:chExt cx="6858000" cy="7874000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6858000" cy="7874000"/>
              <a:chOff x="0" y="0"/>
              <a:chExt cx="6858000" cy="7874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6858000" cy="78740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7874000">
                    <a:moveTo>
                      <a:pt x="32926" y="0"/>
                    </a:moveTo>
                    <a:lnTo>
                      <a:pt x="6825074" y="0"/>
                    </a:lnTo>
                    <a:cubicBezTo>
                      <a:pt x="6833807" y="0"/>
                      <a:pt x="6842182" y="3469"/>
                      <a:pt x="6848356" y="9644"/>
                    </a:cubicBezTo>
                    <a:cubicBezTo>
                      <a:pt x="6854531" y="15819"/>
                      <a:pt x="6858000" y="24193"/>
                      <a:pt x="6858000" y="32926"/>
                    </a:cubicBezTo>
                    <a:lnTo>
                      <a:pt x="6858000" y="7841074"/>
                    </a:lnTo>
                    <a:cubicBezTo>
                      <a:pt x="6858000" y="7849807"/>
                      <a:pt x="6854531" y="7858182"/>
                      <a:pt x="6848356" y="7864356"/>
                    </a:cubicBezTo>
                    <a:cubicBezTo>
                      <a:pt x="6842182" y="7870531"/>
                      <a:pt x="6833807" y="7874000"/>
                      <a:pt x="6825074" y="7874000"/>
                    </a:cubicBezTo>
                    <a:lnTo>
                      <a:pt x="32926" y="7874000"/>
                    </a:lnTo>
                    <a:cubicBezTo>
                      <a:pt x="24193" y="7874000"/>
                      <a:pt x="15819" y="7870531"/>
                      <a:pt x="9644" y="7864356"/>
                    </a:cubicBezTo>
                    <a:cubicBezTo>
                      <a:pt x="3469" y="7858182"/>
                      <a:pt x="0" y="7849807"/>
                      <a:pt x="0" y="7841074"/>
                    </a:cubicBezTo>
                    <a:lnTo>
                      <a:pt x="0" y="32926"/>
                    </a:lnTo>
                    <a:cubicBezTo>
                      <a:pt x="0" y="24193"/>
                      <a:pt x="3469" y="15819"/>
                      <a:pt x="9644" y="9644"/>
                    </a:cubicBezTo>
                    <a:cubicBezTo>
                      <a:pt x="15819" y="3469"/>
                      <a:pt x="24193" y="0"/>
                      <a:pt x="3292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BDD0C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6858000" cy="791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444500" y="469900"/>
              <a:ext cx="5969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1" spc="225">
                  <a:solidFill>
                    <a:srgbClr val="145C4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SKILLS DEMONSTRATED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4500" y="1457325"/>
              <a:ext cx="5969000" cy="38163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172421"/>
                  </a:solidFill>
                  <a:latin typeface="DM Sans"/>
                  <a:ea typeface="DM Sans"/>
                  <a:cs typeface="DM Sans"/>
                  <a:sym typeface="DM Sans"/>
                </a:rPr>
                <a:t>01  SQL</a:t>
              </a:r>
            </a:p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172421"/>
                  </a:solidFill>
                  <a:latin typeface="DM Sans"/>
                  <a:ea typeface="DM Sans"/>
                  <a:cs typeface="DM Sans"/>
                  <a:sym typeface="DM Sans"/>
                </a:rPr>
                <a:t>02  Data Cleaning</a:t>
              </a:r>
            </a:p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172421"/>
                  </a:solidFill>
                  <a:latin typeface="DM Sans"/>
                  <a:ea typeface="DM Sans"/>
                  <a:cs typeface="DM Sans"/>
                  <a:sym typeface="DM Sans"/>
                </a:rPr>
                <a:t>03  ETL</a:t>
              </a:r>
            </a:p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172421"/>
                  </a:solidFill>
                  <a:latin typeface="DM Sans"/>
                  <a:ea typeface="DM Sans"/>
                  <a:cs typeface="DM Sans"/>
                  <a:sym typeface="DM Sans"/>
                </a:rPr>
                <a:t>04  Data Profiling</a:t>
              </a:r>
            </a:p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172421"/>
                  </a:solidFill>
                  <a:latin typeface="DM Sans"/>
                  <a:ea typeface="DM Sans"/>
                  <a:cs typeface="DM Sans"/>
                  <a:sym typeface="DM Sans"/>
                </a:rPr>
                <a:t>05  Data Analysis</a:t>
              </a:r>
            </a:p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172421"/>
                  </a:solidFill>
                  <a:latin typeface="DM Sans"/>
                  <a:ea typeface="DM Sans"/>
                  <a:cs typeface="DM Sans"/>
                  <a:sym typeface="DM Sans"/>
                </a:rPr>
                <a:t>06  Power BI</a:t>
              </a:r>
            </a:p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172421"/>
                  </a:solidFill>
                  <a:latin typeface="DM Sans"/>
                  <a:ea typeface="DM Sans"/>
                  <a:cs typeface="DM Sans"/>
                  <a:sym typeface="DM Sans"/>
                </a:rPr>
                <a:t>07  Data Visualization</a:t>
              </a:r>
            </a:p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172421"/>
                  </a:solidFill>
                  <a:latin typeface="DM Sans"/>
                  <a:ea typeface="DM Sans"/>
                  <a:cs typeface="DM Sans"/>
                  <a:sym typeface="DM Sans"/>
                </a:rPr>
                <a:t>08  Business Intelligence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857250" y="9734550"/>
            <a:ext cx="8572500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 spc="144">
                <a:solidFill>
                  <a:srgbClr val="145C4D"/>
                </a:solidFill>
                <a:latin typeface="DM Sans Bold"/>
                <a:ea typeface="DM Sans Bold"/>
                <a:cs typeface="DM Sans Bold"/>
                <a:sym typeface="DM Sans Bold"/>
              </a:rPr>
              <a:t>DIGITAL BANKING ANALYTICS  /  REFLECTION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2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9125" y="904875"/>
            <a:ext cx="2286000" cy="809625"/>
            <a:chOff x="0" y="0"/>
            <a:chExt cx="3048000" cy="1079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48000" cy="1079500"/>
            </a:xfrm>
            <a:custGeom>
              <a:avLst/>
              <a:gdLst/>
              <a:ahLst/>
              <a:cxnLst/>
              <a:rect l="l" t="t" r="r" b="b"/>
              <a:pathLst>
                <a:path w="3048000" h="1079500">
                  <a:moveTo>
                    <a:pt x="63500" y="0"/>
                  </a:moveTo>
                  <a:lnTo>
                    <a:pt x="2984500" y="0"/>
                  </a:lnTo>
                  <a:cubicBezTo>
                    <a:pt x="3019570" y="0"/>
                    <a:pt x="3048000" y="28430"/>
                    <a:pt x="3048000" y="63500"/>
                  </a:cubicBezTo>
                  <a:lnTo>
                    <a:pt x="3048000" y="1016000"/>
                  </a:lnTo>
                  <a:cubicBezTo>
                    <a:pt x="3048000" y="1051070"/>
                    <a:pt x="3019570" y="1079500"/>
                    <a:pt x="2984500" y="1079500"/>
                  </a:cubicBezTo>
                  <a:lnTo>
                    <a:pt x="63500" y="1079500"/>
                  </a:lnTo>
                  <a:cubicBezTo>
                    <a:pt x="28430" y="1079500"/>
                    <a:pt x="0" y="1051070"/>
                    <a:pt x="0" y="10160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45C4D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3048000" cy="1060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5"/>
                </a:lnSpc>
              </a:pPr>
              <a:r>
                <a:rPr lang="en-US" sz="1650" b="1">
                  <a:solidFill>
                    <a:srgbClr val="082F2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RAW DATA</a:t>
              </a:r>
            </a:p>
          </p:txBody>
        </p:sp>
      </p:grpSp>
      <p:sp>
        <p:nvSpPr>
          <p:cNvPr id="5" name="AutoShape 5"/>
          <p:cNvSpPr/>
          <p:nvPr/>
        </p:nvSpPr>
        <p:spPr>
          <a:xfrm>
            <a:off x="2905125" y="1314450"/>
            <a:ext cx="552450" cy="0"/>
          </a:xfrm>
          <a:prstGeom prst="line">
            <a:avLst/>
          </a:prstGeom>
          <a:ln w="28575" cap="flat">
            <a:solidFill>
              <a:srgbClr val="B8E3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6" name="Group 6"/>
          <p:cNvGrpSpPr/>
          <p:nvPr/>
        </p:nvGrpSpPr>
        <p:grpSpPr>
          <a:xfrm>
            <a:off x="3524250" y="904875"/>
            <a:ext cx="2286000" cy="809625"/>
            <a:chOff x="0" y="0"/>
            <a:chExt cx="3048000" cy="10795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048000" cy="1079500"/>
            </a:xfrm>
            <a:custGeom>
              <a:avLst/>
              <a:gdLst/>
              <a:ahLst/>
              <a:cxnLst/>
              <a:rect l="l" t="t" r="r" b="b"/>
              <a:pathLst>
                <a:path w="3048000" h="1079500">
                  <a:moveTo>
                    <a:pt x="63500" y="0"/>
                  </a:moveTo>
                  <a:lnTo>
                    <a:pt x="2984500" y="0"/>
                  </a:lnTo>
                  <a:cubicBezTo>
                    <a:pt x="3019570" y="0"/>
                    <a:pt x="3048000" y="28430"/>
                    <a:pt x="3048000" y="63500"/>
                  </a:cubicBezTo>
                  <a:lnTo>
                    <a:pt x="3048000" y="1016000"/>
                  </a:lnTo>
                  <a:cubicBezTo>
                    <a:pt x="3048000" y="1051070"/>
                    <a:pt x="3019570" y="1079500"/>
                    <a:pt x="2984500" y="1079500"/>
                  </a:cubicBezTo>
                  <a:lnTo>
                    <a:pt x="63500" y="1079500"/>
                  </a:lnTo>
                  <a:cubicBezTo>
                    <a:pt x="28430" y="1079500"/>
                    <a:pt x="0" y="1051070"/>
                    <a:pt x="0" y="10160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45C4D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9050"/>
              <a:ext cx="3048000" cy="1060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5"/>
                </a:lnSpc>
              </a:pPr>
              <a:r>
                <a:rPr lang="en-US" sz="1650" b="1">
                  <a:solidFill>
                    <a:srgbClr val="082F2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CLEAN DATA</a:t>
              </a:r>
            </a:p>
          </p:txBody>
        </p:sp>
      </p:grpSp>
      <p:sp>
        <p:nvSpPr>
          <p:cNvPr id="9" name="AutoShape 9"/>
          <p:cNvSpPr/>
          <p:nvPr/>
        </p:nvSpPr>
        <p:spPr>
          <a:xfrm>
            <a:off x="5810250" y="1314450"/>
            <a:ext cx="552450" cy="0"/>
          </a:xfrm>
          <a:prstGeom prst="line">
            <a:avLst/>
          </a:prstGeom>
          <a:ln w="28575" cap="flat">
            <a:solidFill>
              <a:srgbClr val="B8E3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10" name="Group 10"/>
          <p:cNvGrpSpPr/>
          <p:nvPr/>
        </p:nvGrpSpPr>
        <p:grpSpPr>
          <a:xfrm>
            <a:off x="6429375" y="904875"/>
            <a:ext cx="2286000" cy="809625"/>
            <a:chOff x="0" y="0"/>
            <a:chExt cx="3048000" cy="10795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048000" cy="1079500"/>
            </a:xfrm>
            <a:custGeom>
              <a:avLst/>
              <a:gdLst/>
              <a:ahLst/>
              <a:cxnLst/>
              <a:rect l="l" t="t" r="r" b="b"/>
              <a:pathLst>
                <a:path w="3048000" h="1079500">
                  <a:moveTo>
                    <a:pt x="63500" y="0"/>
                  </a:moveTo>
                  <a:lnTo>
                    <a:pt x="2984500" y="0"/>
                  </a:lnTo>
                  <a:cubicBezTo>
                    <a:pt x="3019570" y="0"/>
                    <a:pt x="3048000" y="28430"/>
                    <a:pt x="3048000" y="63500"/>
                  </a:cubicBezTo>
                  <a:lnTo>
                    <a:pt x="3048000" y="1016000"/>
                  </a:lnTo>
                  <a:cubicBezTo>
                    <a:pt x="3048000" y="1051070"/>
                    <a:pt x="3019570" y="1079500"/>
                    <a:pt x="2984500" y="1079500"/>
                  </a:cubicBezTo>
                  <a:lnTo>
                    <a:pt x="63500" y="1079500"/>
                  </a:lnTo>
                  <a:cubicBezTo>
                    <a:pt x="28430" y="1079500"/>
                    <a:pt x="0" y="1051070"/>
                    <a:pt x="0" y="10160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45C4D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9050"/>
              <a:ext cx="3048000" cy="1060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5"/>
                </a:lnSpc>
              </a:pPr>
              <a:r>
                <a:rPr lang="en-US" sz="1650" b="1">
                  <a:solidFill>
                    <a:srgbClr val="082F2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SQL ANALYSIS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>
            <a:off x="8715375" y="1314450"/>
            <a:ext cx="552450" cy="0"/>
          </a:xfrm>
          <a:prstGeom prst="line">
            <a:avLst/>
          </a:prstGeom>
          <a:ln w="28575" cap="flat">
            <a:solidFill>
              <a:srgbClr val="B8E3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14" name="Group 14"/>
          <p:cNvGrpSpPr/>
          <p:nvPr/>
        </p:nvGrpSpPr>
        <p:grpSpPr>
          <a:xfrm>
            <a:off x="9334500" y="904875"/>
            <a:ext cx="2286000" cy="809625"/>
            <a:chOff x="0" y="0"/>
            <a:chExt cx="3048000" cy="10795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048000" cy="1079500"/>
            </a:xfrm>
            <a:custGeom>
              <a:avLst/>
              <a:gdLst/>
              <a:ahLst/>
              <a:cxnLst/>
              <a:rect l="l" t="t" r="r" b="b"/>
              <a:pathLst>
                <a:path w="3048000" h="1079500">
                  <a:moveTo>
                    <a:pt x="63500" y="0"/>
                  </a:moveTo>
                  <a:lnTo>
                    <a:pt x="2984500" y="0"/>
                  </a:lnTo>
                  <a:cubicBezTo>
                    <a:pt x="3019570" y="0"/>
                    <a:pt x="3048000" y="28430"/>
                    <a:pt x="3048000" y="63500"/>
                  </a:cubicBezTo>
                  <a:lnTo>
                    <a:pt x="3048000" y="1016000"/>
                  </a:lnTo>
                  <a:cubicBezTo>
                    <a:pt x="3048000" y="1051070"/>
                    <a:pt x="3019570" y="1079500"/>
                    <a:pt x="2984500" y="1079500"/>
                  </a:cubicBezTo>
                  <a:lnTo>
                    <a:pt x="63500" y="1079500"/>
                  </a:lnTo>
                  <a:cubicBezTo>
                    <a:pt x="28430" y="1079500"/>
                    <a:pt x="0" y="1051070"/>
                    <a:pt x="0" y="10160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45C4D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19050"/>
              <a:ext cx="3048000" cy="1060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5"/>
                </a:lnSpc>
              </a:pPr>
              <a:r>
                <a:rPr lang="en-US" sz="1650" b="1">
                  <a:solidFill>
                    <a:srgbClr val="082F2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BUSINESS METRICS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>
            <a:off x="11620500" y="1314450"/>
            <a:ext cx="552450" cy="0"/>
          </a:xfrm>
          <a:prstGeom prst="line">
            <a:avLst/>
          </a:prstGeom>
          <a:ln w="28575" cap="flat">
            <a:solidFill>
              <a:srgbClr val="B8E3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18" name="Group 18"/>
          <p:cNvGrpSpPr/>
          <p:nvPr/>
        </p:nvGrpSpPr>
        <p:grpSpPr>
          <a:xfrm>
            <a:off x="12239625" y="904875"/>
            <a:ext cx="2286000" cy="809625"/>
            <a:chOff x="0" y="0"/>
            <a:chExt cx="3048000" cy="10795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048000" cy="1079500"/>
            </a:xfrm>
            <a:custGeom>
              <a:avLst/>
              <a:gdLst/>
              <a:ahLst/>
              <a:cxnLst/>
              <a:rect l="l" t="t" r="r" b="b"/>
              <a:pathLst>
                <a:path w="3048000" h="1079500">
                  <a:moveTo>
                    <a:pt x="63500" y="0"/>
                  </a:moveTo>
                  <a:lnTo>
                    <a:pt x="2984500" y="0"/>
                  </a:lnTo>
                  <a:cubicBezTo>
                    <a:pt x="3019570" y="0"/>
                    <a:pt x="3048000" y="28430"/>
                    <a:pt x="3048000" y="63500"/>
                  </a:cubicBezTo>
                  <a:lnTo>
                    <a:pt x="3048000" y="1016000"/>
                  </a:lnTo>
                  <a:cubicBezTo>
                    <a:pt x="3048000" y="1051070"/>
                    <a:pt x="3019570" y="1079500"/>
                    <a:pt x="2984500" y="1079500"/>
                  </a:cubicBezTo>
                  <a:lnTo>
                    <a:pt x="63500" y="1079500"/>
                  </a:lnTo>
                  <a:cubicBezTo>
                    <a:pt x="28430" y="1079500"/>
                    <a:pt x="0" y="1051070"/>
                    <a:pt x="0" y="10160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45C4D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19050"/>
              <a:ext cx="3048000" cy="1060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5"/>
                </a:lnSpc>
              </a:pPr>
              <a:r>
                <a:rPr lang="en-US" sz="1650" b="1">
                  <a:solidFill>
                    <a:srgbClr val="082F2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POWER BI</a:t>
              </a:r>
            </a:p>
          </p:txBody>
        </p:sp>
      </p:grpSp>
      <p:sp>
        <p:nvSpPr>
          <p:cNvPr id="21" name="AutoShape 21"/>
          <p:cNvSpPr/>
          <p:nvPr/>
        </p:nvSpPr>
        <p:spPr>
          <a:xfrm>
            <a:off x="14525625" y="1314450"/>
            <a:ext cx="552450" cy="0"/>
          </a:xfrm>
          <a:prstGeom prst="line">
            <a:avLst/>
          </a:prstGeom>
          <a:ln w="28575" cap="flat">
            <a:solidFill>
              <a:srgbClr val="B8E3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22" name="Group 22"/>
          <p:cNvGrpSpPr/>
          <p:nvPr/>
        </p:nvGrpSpPr>
        <p:grpSpPr>
          <a:xfrm>
            <a:off x="15144750" y="904875"/>
            <a:ext cx="2286000" cy="809625"/>
            <a:chOff x="0" y="0"/>
            <a:chExt cx="3048000" cy="10795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048000" cy="1079500"/>
            </a:xfrm>
            <a:custGeom>
              <a:avLst/>
              <a:gdLst/>
              <a:ahLst/>
              <a:cxnLst/>
              <a:rect l="l" t="t" r="r" b="b"/>
              <a:pathLst>
                <a:path w="3048000" h="1079500">
                  <a:moveTo>
                    <a:pt x="63500" y="0"/>
                  </a:moveTo>
                  <a:lnTo>
                    <a:pt x="2984500" y="0"/>
                  </a:lnTo>
                  <a:cubicBezTo>
                    <a:pt x="3019570" y="0"/>
                    <a:pt x="3048000" y="28430"/>
                    <a:pt x="3048000" y="63500"/>
                  </a:cubicBezTo>
                  <a:lnTo>
                    <a:pt x="3048000" y="1016000"/>
                  </a:lnTo>
                  <a:cubicBezTo>
                    <a:pt x="3048000" y="1051070"/>
                    <a:pt x="3019570" y="1079500"/>
                    <a:pt x="2984500" y="1079500"/>
                  </a:cubicBezTo>
                  <a:lnTo>
                    <a:pt x="63500" y="1079500"/>
                  </a:lnTo>
                  <a:cubicBezTo>
                    <a:pt x="28430" y="1079500"/>
                    <a:pt x="0" y="1051070"/>
                    <a:pt x="0" y="10160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B8E34A"/>
            </a:solidFill>
            <a:ln w="19050" cap="sq">
              <a:solidFill>
                <a:srgbClr val="145C4D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19050"/>
              <a:ext cx="3048000" cy="1060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5"/>
                </a:lnSpc>
              </a:pPr>
              <a:r>
                <a:rPr lang="en-US" sz="1650" b="1">
                  <a:solidFill>
                    <a:srgbClr val="082F2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DECISION SUPPORT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5811500" y="2095500"/>
            <a:ext cx="1619250" cy="76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814"/>
              </a:lnSpc>
            </a:pPr>
            <a:r>
              <a:rPr lang="en-US" sz="5700" b="1">
                <a:solidFill>
                  <a:srgbClr val="B8E34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15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57250" y="2286000"/>
            <a:ext cx="6858000" cy="1460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61"/>
              </a:lnSpc>
            </a:pPr>
            <a:r>
              <a:rPr lang="en-US" sz="5550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 &amp;</a:t>
            </a:r>
          </a:p>
          <a:p>
            <a:pPr algn="l">
              <a:lnSpc>
                <a:spcPts val="5661"/>
              </a:lnSpc>
            </a:pPr>
            <a:r>
              <a:rPr lang="en-US" sz="5550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FUTURE SCOPE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858250" y="2457450"/>
            <a:ext cx="3619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B8E34A"/>
                </a:solidFill>
                <a:latin typeface="DM Sans Bold"/>
                <a:ea typeface="DM Sans Bold"/>
                <a:cs typeface="DM Sans Bold"/>
                <a:sym typeface="DM Sans Bold"/>
              </a:rPr>
              <a:t>CONCLUSION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858250" y="2905125"/>
            <a:ext cx="7620000" cy="160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Built an end-to-end banking analytics solution</a:t>
            </a:r>
          </a:p>
          <a:p>
            <a:pPr algn="l">
              <a:lnSpc>
                <a:spcPts val="2610"/>
              </a:lnSpc>
            </a:pPr>
            <a:r>
              <a:rPr lang="en-US" sz="1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Integrated SQL engineering with Power BI</a:t>
            </a:r>
          </a:p>
          <a:p>
            <a:pPr algn="l">
              <a:lnSpc>
                <a:spcPts val="2610"/>
              </a:lnSpc>
            </a:pPr>
            <a:r>
              <a:rPr lang="en-US" sz="1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Created reusable analytical SQL views</a:t>
            </a:r>
          </a:p>
          <a:p>
            <a:pPr algn="l">
              <a:lnSpc>
                <a:spcPts val="2610"/>
              </a:lnSpc>
            </a:pPr>
            <a:r>
              <a:rPr lang="en-US" sz="1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Developed three business-focused dashboards</a:t>
            </a:r>
          </a:p>
          <a:p>
            <a:pPr algn="l">
              <a:lnSpc>
                <a:spcPts val="2610"/>
              </a:lnSpc>
            </a:pPr>
            <a:r>
              <a:rPr lang="en-US" sz="1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Converted raw data into actionable insights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858250" y="6029325"/>
            <a:ext cx="3619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B8E34A"/>
                </a:solidFill>
                <a:latin typeface="DM Sans Bold"/>
                <a:ea typeface="DM Sans Bold"/>
                <a:cs typeface="DM Sans Bold"/>
                <a:sym typeface="DM Sans Bold"/>
              </a:rPr>
              <a:t>FUTURE SCOPE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858250" y="6486525"/>
            <a:ext cx="7810500" cy="926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1"/>
              </a:lnSpc>
            </a:pPr>
            <a:r>
              <a:rPr lang="en-US" sz="172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Real-time integration • churn prediction • product recommendation</a:t>
            </a:r>
          </a:p>
          <a:p>
            <a:pPr algn="l">
              <a:lnSpc>
                <a:spcPts val="2501"/>
              </a:lnSpc>
            </a:pPr>
            <a:r>
              <a:rPr lang="en-US" sz="172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customer lifetime value • branch forecasting • employee prediction • automated alerts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57250" y="7172325"/>
            <a:ext cx="6191250" cy="697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1">
                <a:solidFill>
                  <a:srgbClr val="B8E34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04875" y="8086725"/>
            <a:ext cx="476250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Ashwini Dixit</a:t>
            </a:r>
          </a:p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Aspiring Data Analyst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824</Words>
  <Application>Microsoft Office PowerPoint</Application>
  <PresentationFormat>Custom</PresentationFormat>
  <Paragraphs>246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DM Sans</vt:lpstr>
      <vt:lpstr>Calibri</vt:lpstr>
      <vt:lpstr>DM Sans Bold</vt:lpstr>
      <vt:lpstr>League Spartan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 banking datasets covering customers, employees, branches, products &amp; interactions SQL database creation with clean tables and relationships Data profiling, cleaning &amp; ETL for analysis-ready data SQL analysis of customer, product, employee &amp; branch</dc:title>
  <cp:lastModifiedBy>Ashwini Dixit</cp:lastModifiedBy>
  <cp:revision>1</cp:revision>
  <dcterms:created xsi:type="dcterms:W3CDTF">2006-08-16T00:00:00Z</dcterms:created>
  <dcterms:modified xsi:type="dcterms:W3CDTF">2026-09-09T09:31:01Z</dcterms:modified>
  <dc:identifier>DAHUsfcEmkU</dc:identifier>
</cp:coreProperties>
</file>